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73" r:id="rId5"/>
    <p:sldId id="274" r:id="rId6"/>
    <p:sldId id="259" r:id="rId7"/>
    <p:sldId id="275"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1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33BAF563-33DE-4F82-AB26-9072D82CE3BD}" type="datetimeFigureOut">
              <a:rPr lang="en-IN" smtClean="0"/>
              <a:t>03-03-2025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44A61E4-5229-492B-A0E9-A2FAE680BB82}" type="slidenum">
              <a:rPr lang="en-IN" smtClean="0"/>
              <a:t>‹#›</a:t>
            </a:fld>
            <a:endParaRPr lang="en-IN"/>
          </a:p>
        </p:txBody>
      </p:sp>
    </p:spTree>
    <p:extLst>
      <p:ext uri="{BB962C8B-B14F-4D97-AF65-F5344CB8AC3E}">
        <p14:creationId xmlns:p14="http://schemas.microsoft.com/office/powerpoint/2010/main" val="241371977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BAF563-33DE-4F82-AB26-9072D82CE3BD}" type="datetimeFigureOut">
              <a:rPr lang="en-IN" smtClean="0"/>
              <a:t>03-03-2025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44A61E4-5229-492B-A0E9-A2FAE680BB82}" type="slidenum">
              <a:rPr lang="en-IN" smtClean="0"/>
              <a:t>‹#›</a:t>
            </a:fld>
            <a:endParaRPr lang="en-IN"/>
          </a:p>
        </p:txBody>
      </p:sp>
    </p:spTree>
    <p:extLst>
      <p:ext uri="{BB962C8B-B14F-4D97-AF65-F5344CB8AC3E}">
        <p14:creationId xmlns:p14="http://schemas.microsoft.com/office/powerpoint/2010/main" val="722009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33BAF563-33DE-4F82-AB26-9072D82CE3BD}" type="datetimeFigureOut">
              <a:rPr lang="en-IN" smtClean="0"/>
              <a:t>03-03-2025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44A61E4-5229-492B-A0E9-A2FAE680BB82}" type="slidenum">
              <a:rPr lang="en-IN" smtClean="0"/>
              <a:t>‹#›</a:t>
            </a:fld>
            <a:endParaRPr lang="en-IN"/>
          </a:p>
        </p:txBody>
      </p:sp>
    </p:spTree>
    <p:extLst>
      <p:ext uri="{BB962C8B-B14F-4D97-AF65-F5344CB8AC3E}">
        <p14:creationId xmlns:p14="http://schemas.microsoft.com/office/powerpoint/2010/main" val="14134559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33BAF563-33DE-4F82-AB26-9072D82CE3BD}" type="datetimeFigureOut">
              <a:rPr lang="en-IN" smtClean="0"/>
              <a:t>03-03-2025</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244A61E4-5229-492B-A0E9-A2FAE680BB82}" type="slidenum">
              <a:rPr lang="en-IN" smtClean="0"/>
              <a:t>‹#›</a:t>
            </a:fld>
            <a:endParaRPr lang="en-IN"/>
          </a:p>
        </p:txBody>
      </p:sp>
    </p:spTree>
    <p:extLst>
      <p:ext uri="{BB962C8B-B14F-4D97-AF65-F5344CB8AC3E}">
        <p14:creationId xmlns:p14="http://schemas.microsoft.com/office/powerpoint/2010/main" val="1532744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33BAF563-33DE-4F82-AB26-9072D82CE3BD}" type="datetimeFigureOut">
              <a:rPr lang="en-IN" smtClean="0"/>
              <a:t>03-03-2025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44A61E4-5229-492B-A0E9-A2FAE680BB82}"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66154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BAF563-33DE-4F82-AB26-9072D82CE3BD}" type="datetimeFigureOut">
              <a:rPr lang="en-IN" smtClean="0"/>
              <a:t>03-03-2025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44A61E4-5229-492B-A0E9-A2FAE680BB82}" type="slidenum">
              <a:rPr lang="en-IN" smtClean="0"/>
              <a:t>‹#›</a:t>
            </a:fld>
            <a:endParaRPr lang="en-IN"/>
          </a:p>
        </p:txBody>
      </p:sp>
    </p:spTree>
    <p:extLst>
      <p:ext uri="{BB962C8B-B14F-4D97-AF65-F5344CB8AC3E}">
        <p14:creationId xmlns:p14="http://schemas.microsoft.com/office/powerpoint/2010/main" val="2585559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BAF563-33DE-4F82-AB26-9072D82CE3BD}" type="datetimeFigureOut">
              <a:rPr lang="en-IN" smtClean="0"/>
              <a:t>03-03-2025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44A61E4-5229-492B-A0E9-A2FAE680BB82}" type="slidenum">
              <a:rPr lang="en-IN" smtClean="0"/>
              <a:t>‹#›</a:t>
            </a:fld>
            <a:endParaRPr lang="en-IN"/>
          </a:p>
        </p:txBody>
      </p:sp>
    </p:spTree>
    <p:extLst>
      <p:ext uri="{BB962C8B-B14F-4D97-AF65-F5344CB8AC3E}">
        <p14:creationId xmlns:p14="http://schemas.microsoft.com/office/powerpoint/2010/main" val="964995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33BAF563-33DE-4F82-AB26-9072D82CE3BD}" type="datetimeFigureOut">
              <a:rPr lang="en-IN" smtClean="0"/>
              <a:t>03-03-2025</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244A61E4-5229-492B-A0E9-A2FAE680BB82}" type="slidenum">
              <a:rPr lang="en-IN" smtClean="0"/>
              <a:t>‹#›</a:t>
            </a:fld>
            <a:endParaRPr lang="en-IN"/>
          </a:p>
        </p:txBody>
      </p:sp>
    </p:spTree>
    <p:extLst>
      <p:ext uri="{BB962C8B-B14F-4D97-AF65-F5344CB8AC3E}">
        <p14:creationId xmlns:p14="http://schemas.microsoft.com/office/powerpoint/2010/main" val="328266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33BAF563-33DE-4F82-AB26-9072D82CE3BD}" type="datetimeFigureOut">
              <a:rPr lang="en-IN" smtClean="0"/>
              <a:t>03-03-2025</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244A61E4-5229-492B-A0E9-A2FAE680BB82}" type="slidenum">
              <a:rPr lang="en-IN" smtClean="0"/>
              <a:t>‹#›</a:t>
            </a:fld>
            <a:endParaRPr lang="en-IN"/>
          </a:p>
        </p:txBody>
      </p:sp>
    </p:spTree>
    <p:extLst>
      <p:ext uri="{BB962C8B-B14F-4D97-AF65-F5344CB8AC3E}">
        <p14:creationId xmlns:p14="http://schemas.microsoft.com/office/powerpoint/2010/main" val="3297896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BAF563-33DE-4F82-AB26-9072D82CE3BD}" type="datetimeFigureOut">
              <a:rPr lang="en-IN" smtClean="0"/>
              <a:t>03-03-2025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4A61E4-5229-492B-A0E9-A2FAE680BB82}" type="slidenum">
              <a:rPr lang="en-IN" smtClean="0"/>
              <a:t>‹#›</a:t>
            </a:fld>
            <a:endParaRPr lang="en-IN"/>
          </a:p>
        </p:txBody>
      </p:sp>
    </p:spTree>
    <p:extLst>
      <p:ext uri="{BB962C8B-B14F-4D97-AF65-F5344CB8AC3E}">
        <p14:creationId xmlns:p14="http://schemas.microsoft.com/office/powerpoint/2010/main" val="251168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BAF563-33DE-4F82-AB26-9072D82CE3BD}" type="datetimeFigureOut">
              <a:rPr lang="en-IN" smtClean="0"/>
              <a:t>03-03-2025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4A61E4-5229-492B-A0E9-A2FAE680BB82}" type="slidenum">
              <a:rPr lang="en-IN" smtClean="0"/>
              <a:t>‹#›</a:t>
            </a:fld>
            <a:endParaRPr lang="en-IN"/>
          </a:p>
        </p:txBody>
      </p:sp>
    </p:spTree>
    <p:extLst>
      <p:ext uri="{BB962C8B-B14F-4D97-AF65-F5344CB8AC3E}">
        <p14:creationId xmlns:p14="http://schemas.microsoft.com/office/powerpoint/2010/main" val="4028009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33BAF563-33DE-4F82-AB26-9072D82CE3BD}" type="datetimeFigureOut">
              <a:rPr lang="en-IN" smtClean="0"/>
              <a:t>03-03-2025</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244A61E4-5229-492B-A0E9-A2FAE680BB82}" type="slidenum">
              <a:rPr lang="en-IN" smtClean="0"/>
              <a:t>‹#›</a:t>
            </a:fld>
            <a:endParaRPr lang="en-IN"/>
          </a:p>
        </p:txBody>
      </p:sp>
    </p:spTree>
    <p:extLst>
      <p:ext uri="{BB962C8B-B14F-4D97-AF65-F5344CB8AC3E}">
        <p14:creationId xmlns:p14="http://schemas.microsoft.com/office/powerpoint/2010/main" val="34404398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2449D-ED54-6749-0D64-B71802917411}"/>
              </a:ext>
            </a:extLst>
          </p:cNvPr>
          <p:cNvSpPr>
            <a:spLocks noGrp="1"/>
          </p:cNvSpPr>
          <p:nvPr>
            <p:ph type="ctrTitle"/>
          </p:nvPr>
        </p:nvSpPr>
        <p:spPr>
          <a:xfrm>
            <a:off x="462116" y="2159541"/>
            <a:ext cx="8991600" cy="1645920"/>
          </a:xfrm>
        </p:spPr>
        <p:txBody>
          <a:bodyPr>
            <a:normAutofit/>
          </a:bodyPr>
          <a:lstStyle/>
          <a:p>
            <a:r>
              <a:rPr lang="en-US" b="1" i="0" dirty="0">
                <a:solidFill>
                  <a:srgbClr val="111C24"/>
                </a:solidFill>
                <a:effectLst/>
                <a:latin typeface="Times New Roman" panose="02020603050405020304" pitchFamily="18" charset="0"/>
                <a:cs typeface="Times New Roman" panose="02020603050405020304" pitchFamily="18" charset="0"/>
              </a:rPr>
              <a:t>Advanced Driver Assistance Systems (ADAS)</a:t>
            </a:r>
            <a:endParaRPr lang="en-IN"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9097502-E08C-C6E4-E012-A958D47D09CB}"/>
              </a:ext>
            </a:extLst>
          </p:cNvPr>
          <p:cNvSpPr>
            <a:spLocks noGrp="1"/>
          </p:cNvSpPr>
          <p:nvPr>
            <p:ph type="subTitle" idx="1"/>
          </p:nvPr>
        </p:nvSpPr>
        <p:spPr>
          <a:xfrm>
            <a:off x="462116" y="4319081"/>
            <a:ext cx="11277600" cy="2042389"/>
          </a:xfrm>
        </p:spPr>
        <p:txBody>
          <a:bodyPr>
            <a:normAutofit fontScale="92500" lnSpcReduction="20000"/>
          </a:bodyPr>
          <a:lstStyle/>
          <a:p>
            <a:pPr algn="r"/>
            <a:endParaRPr lang="en-IN" dirty="0"/>
          </a:p>
          <a:p>
            <a:pPr algn="r"/>
            <a:endParaRPr lang="en-IN" dirty="0"/>
          </a:p>
          <a:p>
            <a:pPr algn="l"/>
            <a:r>
              <a:rPr lang="en-IN" sz="2800" b="1" dirty="0">
                <a:solidFill>
                  <a:schemeClr val="bg1"/>
                </a:solidFill>
                <a:latin typeface="Times New Roman" panose="02020603050405020304" pitchFamily="18" charset="0"/>
                <a:cs typeface="Times New Roman" panose="02020603050405020304" pitchFamily="18" charset="0"/>
              </a:rPr>
              <a:t>Name –</a:t>
            </a:r>
          </a:p>
          <a:p>
            <a:pPr algn="l"/>
            <a:r>
              <a:rPr lang="en-IN" sz="2800" b="1" dirty="0" err="1">
                <a:solidFill>
                  <a:schemeClr val="bg1"/>
                </a:solidFill>
                <a:latin typeface="Times New Roman" panose="02020603050405020304" pitchFamily="18" charset="0"/>
                <a:cs typeface="Times New Roman" panose="02020603050405020304" pitchFamily="18" charset="0"/>
              </a:rPr>
              <a:t>Abde</a:t>
            </a:r>
            <a:r>
              <a:rPr lang="en-IN" sz="2800" b="1" dirty="0">
                <a:solidFill>
                  <a:schemeClr val="bg1"/>
                </a:solidFill>
                <a:latin typeface="Times New Roman" panose="02020603050405020304" pitchFamily="18" charset="0"/>
                <a:cs typeface="Times New Roman" panose="02020603050405020304" pitchFamily="18" charset="0"/>
              </a:rPr>
              <a:t> Ali(RA2311005010054)</a:t>
            </a:r>
          </a:p>
          <a:p>
            <a:pPr algn="l"/>
            <a:r>
              <a:rPr lang="en-IN" sz="2800" b="1" dirty="0">
                <a:solidFill>
                  <a:schemeClr val="bg1"/>
                </a:solidFill>
                <a:latin typeface="Times New Roman" panose="02020603050405020304" pitchFamily="18" charset="0"/>
                <a:cs typeface="Times New Roman" panose="02020603050405020304" pitchFamily="18" charset="0"/>
              </a:rPr>
              <a:t>Ansh Srivastava(RA2311005010056)</a:t>
            </a:r>
          </a:p>
          <a:p>
            <a:endParaRPr lang="en-IN" dirty="0"/>
          </a:p>
        </p:txBody>
      </p:sp>
      <p:pic>
        <p:nvPicPr>
          <p:cNvPr id="1026" name="Picture 2" descr="SRM Institute of Science and Technology - Wikipedia">
            <a:extLst>
              <a:ext uri="{FF2B5EF4-FFF2-40B4-BE49-F238E27FC236}">
                <a16:creationId xmlns:a16="http://schemas.microsoft.com/office/drawing/2014/main" id="{B18C076D-FCAC-337F-238D-6C8ADC651E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82100" y="1"/>
            <a:ext cx="3009900" cy="2159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4746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4B927-CC01-29C7-5101-A1C77E28B816}"/>
              </a:ext>
            </a:extLst>
          </p:cNvPr>
          <p:cNvSpPr>
            <a:spLocks noGrp="1"/>
          </p:cNvSpPr>
          <p:nvPr>
            <p:ph type="title"/>
          </p:nvPr>
        </p:nvSpPr>
        <p:spPr>
          <a:xfrm>
            <a:off x="838200" y="501968"/>
            <a:ext cx="10515600" cy="1188720"/>
          </a:xfrm>
        </p:spPr>
        <p:txBody>
          <a:bodyPr/>
          <a:lstStyle/>
          <a:p>
            <a:r>
              <a:rPr lang="en-IN" b="0" i="0" dirty="0">
                <a:solidFill>
                  <a:srgbClr val="5A2A82"/>
                </a:solidFill>
                <a:effectLst/>
                <a:latin typeface="Times New Roman" panose="02020603050405020304" pitchFamily="18" charset="0"/>
                <a:cs typeface="Times New Roman" panose="02020603050405020304" pitchFamily="18" charset="0"/>
              </a:rPr>
              <a:t>Table of Contents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3E217F3-A192-86C1-B261-73C034CE9D4B}"/>
              </a:ext>
            </a:extLst>
          </p:cNvPr>
          <p:cNvSpPr>
            <a:spLocks noGrp="1"/>
          </p:cNvSpPr>
          <p:nvPr>
            <p:ph idx="1"/>
          </p:nvPr>
        </p:nvSpPr>
        <p:spPr>
          <a:xfrm>
            <a:off x="838200" y="2050612"/>
            <a:ext cx="10515600" cy="4102357"/>
          </a:xfrm>
        </p:spPr>
        <p:txBody>
          <a:bodyPr>
            <a:normAutofit/>
          </a:bodyPr>
          <a:lstStyle/>
          <a:p>
            <a:r>
              <a:rPr lang="en-US" sz="2200" b="0" i="0" dirty="0">
                <a:solidFill>
                  <a:srgbClr val="5A2A82"/>
                </a:solidFill>
                <a:effectLst/>
                <a:latin typeface="Times New Roman" panose="02020603050405020304" pitchFamily="18" charset="0"/>
                <a:cs typeface="Times New Roman" panose="02020603050405020304" pitchFamily="18" charset="0"/>
              </a:rPr>
              <a:t>Definition</a:t>
            </a:r>
          </a:p>
          <a:p>
            <a:r>
              <a:rPr lang="en-IN" sz="2200" u="heavy" spc="-55" dirty="0">
                <a:solidFill>
                  <a:srgbClr val="7030A0"/>
                </a:solidFill>
                <a:uFill>
                  <a:solidFill>
                    <a:srgbClr val="FFFFFF"/>
                  </a:solidFill>
                </a:uFill>
                <a:latin typeface="Times New Roman" panose="02020603050405020304" pitchFamily="18" charset="0"/>
                <a:cs typeface="Times New Roman" panose="02020603050405020304" pitchFamily="18" charset="0"/>
              </a:rPr>
              <a:t>History</a:t>
            </a:r>
          </a:p>
          <a:p>
            <a:r>
              <a:rPr lang="en-IN" sz="2200" u="heavy" spc="-55" dirty="0">
                <a:solidFill>
                  <a:srgbClr val="7030A0"/>
                </a:solidFill>
                <a:uFill>
                  <a:solidFill>
                    <a:srgbClr val="FFFFFF"/>
                  </a:solidFill>
                </a:uFill>
                <a:latin typeface="Times New Roman" panose="02020603050405020304" pitchFamily="18" charset="0"/>
                <a:cs typeface="Times New Roman" panose="02020603050405020304" pitchFamily="18" charset="0"/>
              </a:rPr>
              <a:t>Types of ADAS</a:t>
            </a:r>
            <a:endParaRPr lang="en-IN" sz="2200" b="0" i="0" dirty="0">
              <a:solidFill>
                <a:srgbClr val="5A2A82"/>
              </a:solidFill>
              <a:effectLst/>
              <a:latin typeface="Times New Roman" panose="02020603050405020304" pitchFamily="18" charset="0"/>
              <a:cs typeface="Times New Roman" panose="02020603050405020304" pitchFamily="18" charset="0"/>
            </a:endParaRPr>
          </a:p>
          <a:p>
            <a:r>
              <a:rPr lang="en-IN" sz="2200" b="0" i="0" dirty="0">
                <a:solidFill>
                  <a:srgbClr val="5A2A82"/>
                </a:solidFill>
                <a:effectLst/>
                <a:latin typeface="Times New Roman" panose="02020603050405020304" pitchFamily="18" charset="0"/>
                <a:cs typeface="Times New Roman" panose="02020603050405020304" pitchFamily="18" charset="0"/>
              </a:rPr>
              <a:t>How does ADAS work?</a:t>
            </a:r>
          </a:p>
          <a:p>
            <a:r>
              <a:rPr lang="en-US" sz="2200" b="0" i="0" dirty="0">
                <a:solidFill>
                  <a:srgbClr val="5A2A82"/>
                </a:solidFill>
                <a:effectLst/>
                <a:latin typeface="Times New Roman" panose="02020603050405020304" pitchFamily="18" charset="0"/>
                <a:cs typeface="Times New Roman" panose="02020603050405020304" pitchFamily="18" charset="0"/>
              </a:rPr>
              <a:t>What are some ADAS applications?</a:t>
            </a:r>
          </a:p>
          <a:p>
            <a:r>
              <a:rPr lang="en-IN" sz="2200" b="0" i="0" dirty="0">
                <a:solidFill>
                  <a:srgbClr val="5A2A82"/>
                </a:solidFill>
                <a:effectLst/>
                <a:latin typeface="Times New Roman" panose="02020603050405020304" pitchFamily="18" charset="0"/>
                <a:cs typeface="Times New Roman" panose="02020603050405020304" pitchFamily="18" charset="0"/>
              </a:rPr>
              <a:t>Why is ADAS important?</a:t>
            </a:r>
          </a:p>
          <a:p>
            <a:r>
              <a:rPr lang="en-US" sz="2200" b="0" i="0" dirty="0">
                <a:solidFill>
                  <a:srgbClr val="5A2A82"/>
                </a:solidFill>
                <a:effectLst/>
                <a:latin typeface="Times New Roman" panose="02020603050405020304" pitchFamily="18" charset="0"/>
                <a:cs typeface="Times New Roman" panose="02020603050405020304" pitchFamily="18" charset="0"/>
              </a:rPr>
              <a:t>What is the future of ADAS?</a:t>
            </a:r>
            <a:endParaRPr lang="en-US" sz="2200" dirty="0">
              <a:solidFill>
                <a:srgbClr val="5A2A82"/>
              </a:solidFill>
              <a:latin typeface="Times New Roman" panose="02020603050405020304" pitchFamily="18" charset="0"/>
              <a:cs typeface="Times New Roman" panose="02020603050405020304" pitchFamily="18" charset="0"/>
            </a:endParaRPr>
          </a:p>
          <a:p>
            <a:pPr marL="0" indent="0">
              <a:buNone/>
            </a:pPr>
            <a:endParaRPr lang="en-IN" dirty="0">
              <a:solidFill>
                <a:srgbClr val="5A2A82"/>
              </a:solidFill>
              <a:latin typeface="Roboto" panose="020B0604020202020204" pitchFamily="2" charset="0"/>
              <a:cs typeface="Times New Roman" panose="02020603050405020304" pitchFamily="18" charset="0"/>
            </a:endParaRPr>
          </a:p>
          <a:p>
            <a:pPr marL="0" indent="0">
              <a:buNone/>
            </a:pPr>
            <a:endParaRPr lang="en-IN" b="0" i="0" dirty="0">
              <a:solidFill>
                <a:srgbClr val="5A2A82"/>
              </a:solidFill>
              <a:effectLst/>
              <a:latin typeface="Roboto" panose="020B0604020202020204" pitchFamily="2" charset="0"/>
            </a:endParaRPr>
          </a:p>
          <a:p>
            <a:pPr marL="0" indent="0">
              <a:buNone/>
            </a:pPr>
            <a:endParaRPr lang="en-IN" dirty="0"/>
          </a:p>
        </p:txBody>
      </p:sp>
    </p:spTree>
    <p:extLst>
      <p:ext uri="{BB962C8B-B14F-4D97-AF65-F5344CB8AC3E}">
        <p14:creationId xmlns:p14="http://schemas.microsoft.com/office/powerpoint/2010/main" val="3553515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9E259-71A3-0C67-6FDA-B69BB94ECFC7}"/>
              </a:ext>
            </a:extLst>
          </p:cNvPr>
          <p:cNvSpPr>
            <a:spLocks noGrp="1"/>
          </p:cNvSpPr>
          <p:nvPr>
            <p:ph type="title"/>
          </p:nvPr>
        </p:nvSpPr>
        <p:spPr>
          <a:xfrm>
            <a:off x="838200" y="315965"/>
            <a:ext cx="10515600" cy="1031056"/>
          </a:xfrm>
        </p:spPr>
        <p:txBody>
          <a:bodyPr/>
          <a:lstStyle/>
          <a:p>
            <a:r>
              <a:rPr lang="en-US" b="0" i="0" dirty="0">
                <a:solidFill>
                  <a:srgbClr val="5A2A82"/>
                </a:solidFill>
                <a:effectLst/>
                <a:latin typeface="Times New Roman" panose="02020603050405020304" pitchFamily="18" charset="0"/>
                <a:cs typeface="Times New Roman" panose="02020603050405020304" pitchFamily="18" charset="0"/>
              </a:rPr>
              <a:t>Definition: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B26BC50-52B7-6D7A-CCAD-68DDD41049D8}"/>
              </a:ext>
            </a:extLst>
          </p:cNvPr>
          <p:cNvSpPr>
            <a:spLocks noGrp="1"/>
          </p:cNvSpPr>
          <p:nvPr>
            <p:ph idx="1"/>
          </p:nvPr>
        </p:nvSpPr>
        <p:spPr>
          <a:xfrm>
            <a:off x="838200" y="1838528"/>
            <a:ext cx="10515600" cy="4747098"/>
          </a:xfrm>
        </p:spPr>
        <p:txBody>
          <a:bodyPr>
            <a:normAutofit fontScale="77500" lnSpcReduction="20000"/>
          </a:bodyPr>
          <a:lstStyle/>
          <a:p>
            <a:pPr marL="0" indent="0" algn="just">
              <a:buNone/>
            </a:pPr>
            <a:r>
              <a:rPr lang="en-US" sz="2600" b="0" i="0" dirty="0">
                <a:solidFill>
                  <a:srgbClr val="111C24"/>
                </a:solidFill>
                <a:effectLst/>
                <a:latin typeface="Times New Roman" panose="02020603050405020304" pitchFamily="18" charset="0"/>
                <a:cs typeface="Times New Roman" panose="02020603050405020304" pitchFamily="18" charset="0"/>
              </a:rPr>
              <a:t>Almost all vehicle accidents are caused by human error, which can be avoided with Advanced Driver Assistance Systems (ADAS). The role of ADAS is to prevent deaths and injuries by reducing the number of car accidents and the serious impact of those that cannot be avoided.</a:t>
            </a:r>
          </a:p>
          <a:p>
            <a:pPr algn="just"/>
            <a:r>
              <a:rPr lang="en-US" sz="2600" b="0" i="0" dirty="0">
                <a:solidFill>
                  <a:srgbClr val="111C24"/>
                </a:solidFill>
                <a:effectLst/>
                <a:latin typeface="Times New Roman" panose="02020603050405020304" pitchFamily="18" charset="0"/>
                <a:cs typeface="Times New Roman" panose="02020603050405020304" pitchFamily="18" charset="0"/>
              </a:rPr>
              <a:t>Essential safety-critical ADAS applications include:</a:t>
            </a:r>
          </a:p>
          <a:p>
            <a:pPr algn="just">
              <a:buFont typeface="Arial" panose="020B0604020202020204" pitchFamily="34" charset="0"/>
              <a:buChar char="•"/>
            </a:pPr>
            <a:r>
              <a:rPr lang="en-US" sz="2600" b="0" i="0" dirty="0">
                <a:solidFill>
                  <a:srgbClr val="111C24"/>
                </a:solidFill>
                <a:effectLst/>
                <a:latin typeface="Times New Roman" panose="02020603050405020304" pitchFamily="18" charset="0"/>
                <a:cs typeface="Times New Roman" panose="02020603050405020304" pitchFamily="18" charset="0"/>
              </a:rPr>
              <a:t>Pedestrian detection/avoidance</a:t>
            </a:r>
          </a:p>
          <a:p>
            <a:pPr algn="just">
              <a:buFont typeface="Arial" panose="020B0604020202020204" pitchFamily="34" charset="0"/>
              <a:buChar char="•"/>
            </a:pPr>
            <a:r>
              <a:rPr lang="en-US" sz="2600" b="0" i="0" dirty="0">
                <a:solidFill>
                  <a:srgbClr val="111C24"/>
                </a:solidFill>
                <a:effectLst/>
                <a:latin typeface="Times New Roman" panose="02020603050405020304" pitchFamily="18" charset="0"/>
                <a:cs typeface="Times New Roman" panose="02020603050405020304" pitchFamily="18" charset="0"/>
              </a:rPr>
              <a:t>Lane departure warning/correction</a:t>
            </a:r>
          </a:p>
          <a:p>
            <a:pPr algn="just">
              <a:buFont typeface="Arial" panose="020B0604020202020204" pitchFamily="34" charset="0"/>
              <a:buChar char="•"/>
            </a:pPr>
            <a:r>
              <a:rPr lang="en-US" sz="2600" b="0" i="0" dirty="0">
                <a:solidFill>
                  <a:srgbClr val="111C24"/>
                </a:solidFill>
                <a:effectLst/>
                <a:latin typeface="Times New Roman" panose="02020603050405020304" pitchFamily="18" charset="0"/>
                <a:cs typeface="Times New Roman" panose="02020603050405020304" pitchFamily="18" charset="0"/>
              </a:rPr>
              <a:t>Traffic sign recognition</a:t>
            </a:r>
          </a:p>
          <a:p>
            <a:pPr algn="just">
              <a:buFont typeface="Arial" panose="020B0604020202020204" pitchFamily="34" charset="0"/>
              <a:buChar char="•"/>
            </a:pPr>
            <a:r>
              <a:rPr lang="en-US" sz="2600" b="0" i="0" dirty="0">
                <a:solidFill>
                  <a:srgbClr val="111C24"/>
                </a:solidFill>
                <a:effectLst/>
                <a:latin typeface="Times New Roman" panose="02020603050405020304" pitchFamily="18" charset="0"/>
                <a:cs typeface="Times New Roman" panose="02020603050405020304" pitchFamily="18" charset="0"/>
              </a:rPr>
              <a:t>Automatic emergency braking</a:t>
            </a:r>
          </a:p>
          <a:p>
            <a:pPr algn="just">
              <a:buFont typeface="Arial" panose="020B0604020202020204" pitchFamily="34" charset="0"/>
              <a:buChar char="•"/>
            </a:pPr>
            <a:r>
              <a:rPr lang="en-US" sz="2600" b="0" i="0" dirty="0">
                <a:solidFill>
                  <a:srgbClr val="111C24"/>
                </a:solidFill>
                <a:effectLst/>
                <a:latin typeface="Times New Roman" panose="02020603050405020304" pitchFamily="18" charset="0"/>
                <a:cs typeface="Times New Roman" panose="02020603050405020304" pitchFamily="18" charset="0"/>
              </a:rPr>
              <a:t>Blind spot detection</a:t>
            </a:r>
          </a:p>
          <a:p>
            <a:pPr marL="0" indent="0" algn="just">
              <a:buNone/>
            </a:pPr>
            <a:r>
              <a:rPr lang="en-US" sz="2600" b="0" i="0" dirty="0">
                <a:solidFill>
                  <a:srgbClr val="111C24"/>
                </a:solidFill>
                <a:effectLst/>
                <a:latin typeface="Times New Roman" panose="02020603050405020304" pitchFamily="18" charset="0"/>
                <a:cs typeface="Times New Roman" panose="02020603050405020304" pitchFamily="18" charset="0"/>
              </a:rPr>
              <a:t>These lifesaving systems are key to the success of ADAS applications. They incorporate the latest interface standards and run multiple vision-based algorithms to support real-time multimedia, vision coprocessing, and sensor fusion subsystems.</a:t>
            </a:r>
          </a:p>
          <a:p>
            <a:pPr marL="0" indent="0" algn="just">
              <a:buNone/>
            </a:pPr>
            <a:r>
              <a:rPr lang="en-US" sz="2600" b="0" i="0" dirty="0">
                <a:solidFill>
                  <a:srgbClr val="111C24"/>
                </a:solidFill>
                <a:effectLst/>
                <a:latin typeface="Times New Roman" panose="02020603050405020304" pitchFamily="18" charset="0"/>
                <a:cs typeface="Times New Roman" panose="02020603050405020304" pitchFamily="18" charset="0"/>
              </a:rPr>
              <a:t>The modernization of ADAS applications is the first steps toward realizing autonomous vehicles.</a:t>
            </a:r>
          </a:p>
          <a:p>
            <a:endParaRPr lang="en-IN" dirty="0"/>
          </a:p>
        </p:txBody>
      </p:sp>
    </p:spTree>
    <p:extLst>
      <p:ext uri="{BB962C8B-B14F-4D97-AF65-F5344CB8AC3E}">
        <p14:creationId xmlns:p14="http://schemas.microsoft.com/office/powerpoint/2010/main" val="1059656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5DCAC-12A5-439D-0E75-1016C4345B06}"/>
              </a:ext>
            </a:extLst>
          </p:cNvPr>
          <p:cNvSpPr>
            <a:spLocks noGrp="1"/>
          </p:cNvSpPr>
          <p:nvPr>
            <p:ph type="title"/>
          </p:nvPr>
        </p:nvSpPr>
        <p:spPr>
          <a:xfrm>
            <a:off x="906294" y="488037"/>
            <a:ext cx="10515600" cy="1000295"/>
          </a:xfrm>
        </p:spPr>
        <p:txBody>
          <a:bodyPr>
            <a:normAutofit/>
          </a:bodyPr>
          <a:lstStyle/>
          <a:p>
            <a:r>
              <a:rPr lang="en-IN" u="heavy" spc="-55" dirty="0">
                <a:solidFill>
                  <a:srgbClr val="7030A0"/>
                </a:solidFill>
                <a:uFill>
                  <a:solidFill>
                    <a:srgbClr val="FFFFFF"/>
                  </a:solidFill>
                </a:uFill>
                <a:latin typeface="Times New Roman" panose="02020603050405020304" pitchFamily="18" charset="0"/>
                <a:cs typeface="Times New Roman" panose="02020603050405020304" pitchFamily="18" charset="0"/>
              </a:rPr>
              <a:t>HISTORY</a:t>
            </a:r>
            <a:endParaRPr lang="en-IN"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C62742-844E-CC30-9B52-074B653D1DFD}"/>
              </a:ext>
            </a:extLst>
          </p:cNvPr>
          <p:cNvSpPr>
            <a:spLocks noGrp="1"/>
          </p:cNvSpPr>
          <p:nvPr>
            <p:ph idx="1"/>
          </p:nvPr>
        </p:nvSpPr>
        <p:spPr>
          <a:xfrm>
            <a:off x="906294" y="1943608"/>
            <a:ext cx="10515600" cy="2353085"/>
          </a:xfrm>
        </p:spPr>
        <p:txBody>
          <a:bodyPr/>
          <a:lstStyle/>
          <a:p>
            <a:pPr marL="241300" marR="146050" indent="-229235">
              <a:lnSpc>
                <a:spcPts val="3020"/>
              </a:lnSpc>
              <a:spcBef>
                <a:spcPts val="480"/>
              </a:spcBef>
              <a:buFont typeface="Arial MT"/>
              <a:buChar char="•"/>
              <a:tabLst>
                <a:tab pos="241935" algn="l"/>
              </a:tabLst>
            </a:pPr>
            <a:r>
              <a:rPr lang="en-US" sz="2200" spc="-15" dirty="0">
                <a:latin typeface="Times New Roman" panose="02020603050405020304" pitchFamily="18" charset="0"/>
                <a:cs typeface="Times New Roman" panose="02020603050405020304" pitchFamily="18" charset="0"/>
              </a:rPr>
              <a:t>ADAS</a:t>
            </a:r>
            <a:r>
              <a:rPr lang="en-US" sz="2200" spc="25" dirty="0">
                <a:latin typeface="Times New Roman" panose="02020603050405020304" pitchFamily="18" charset="0"/>
                <a:cs typeface="Times New Roman" panose="02020603050405020304" pitchFamily="18" charset="0"/>
              </a:rPr>
              <a:t> </a:t>
            </a:r>
            <a:r>
              <a:rPr lang="en-US" sz="2200" spc="-20" dirty="0">
                <a:latin typeface="Times New Roman" panose="02020603050405020304" pitchFamily="18" charset="0"/>
                <a:cs typeface="Times New Roman" panose="02020603050405020304" pitchFamily="18" charset="0"/>
              </a:rPr>
              <a:t>were</a:t>
            </a:r>
            <a:r>
              <a:rPr lang="en-US" sz="2200" spc="-10" dirty="0">
                <a:latin typeface="Times New Roman" panose="02020603050405020304" pitchFamily="18" charset="0"/>
                <a:cs typeface="Times New Roman" panose="02020603050405020304" pitchFamily="18" charset="0"/>
              </a:rPr>
              <a:t> </a:t>
            </a:r>
            <a:r>
              <a:rPr lang="en-US" sz="2200" spc="-25" dirty="0">
                <a:latin typeface="Times New Roman" panose="02020603050405020304" pitchFamily="18" charset="0"/>
                <a:cs typeface="Times New Roman" panose="02020603050405020304" pitchFamily="18" charset="0"/>
              </a:rPr>
              <a:t>first</a:t>
            </a:r>
            <a:r>
              <a:rPr lang="en-US" sz="2200" spc="15"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being</a:t>
            </a:r>
            <a:r>
              <a:rPr lang="en-US" sz="2200" spc="10"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used</a:t>
            </a:r>
            <a:r>
              <a:rPr lang="en-US" sz="2200" spc="2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in</a:t>
            </a:r>
            <a:r>
              <a:rPr lang="en-US" sz="2200" spc="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the</a:t>
            </a:r>
            <a:r>
              <a:rPr lang="en-US" sz="2200" spc="40" dirty="0">
                <a:latin typeface="Times New Roman" panose="02020603050405020304" pitchFamily="18" charset="0"/>
                <a:cs typeface="Times New Roman" panose="02020603050405020304" pitchFamily="18" charset="0"/>
              </a:rPr>
              <a:t> </a:t>
            </a:r>
            <a:r>
              <a:rPr lang="en-US" sz="2200" b="1" spc="-10" dirty="0">
                <a:latin typeface="Times New Roman" panose="02020603050405020304" pitchFamily="18" charset="0"/>
                <a:cs typeface="Times New Roman" panose="02020603050405020304" pitchFamily="18" charset="0"/>
              </a:rPr>
              <a:t>1950s</a:t>
            </a:r>
            <a:r>
              <a:rPr lang="en-US" sz="2200" b="1" spc="3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with</a:t>
            </a:r>
            <a:r>
              <a:rPr lang="en-US" sz="2200" spc="1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the</a:t>
            </a:r>
            <a:r>
              <a:rPr lang="en-US" sz="2200" spc="1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adoption</a:t>
            </a:r>
            <a:r>
              <a:rPr lang="en-US" sz="2200" spc="2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of</a:t>
            </a:r>
            <a:r>
              <a:rPr lang="en-US" sz="2200"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the</a:t>
            </a:r>
            <a:r>
              <a:rPr lang="en-US" sz="2200" spc="20"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anti- </a:t>
            </a:r>
            <a:r>
              <a:rPr lang="en-US" sz="2200" spc="-62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lock </a:t>
            </a:r>
            <a:r>
              <a:rPr lang="en-US" sz="2200" spc="-15" dirty="0">
                <a:latin typeface="Times New Roman" panose="02020603050405020304" pitchFamily="18" charset="0"/>
                <a:cs typeface="Times New Roman" panose="02020603050405020304" pitchFamily="18" charset="0"/>
              </a:rPr>
              <a:t>braking</a:t>
            </a:r>
            <a:r>
              <a:rPr lang="en-US" sz="2200" spc="25" dirty="0">
                <a:latin typeface="Times New Roman" panose="02020603050405020304" pitchFamily="18" charset="0"/>
                <a:cs typeface="Times New Roman" panose="02020603050405020304" pitchFamily="18" charset="0"/>
              </a:rPr>
              <a:t> </a:t>
            </a:r>
            <a:r>
              <a:rPr lang="en-US" sz="2200" spc="-25" dirty="0">
                <a:latin typeface="Times New Roman" panose="02020603050405020304" pitchFamily="18" charset="0"/>
                <a:cs typeface="Times New Roman" panose="02020603050405020304" pitchFamily="18" charset="0"/>
              </a:rPr>
              <a:t>system.</a:t>
            </a:r>
            <a:endParaRPr lang="en-US" sz="2200" dirty="0">
              <a:latin typeface="Times New Roman" panose="02020603050405020304" pitchFamily="18" charset="0"/>
              <a:cs typeface="Times New Roman" panose="02020603050405020304" pitchFamily="18" charset="0"/>
            </a:endParaRPr>
          </a:p>
          <a:p>
            <a:pPr marL="241300" indent="-229235">
              <a:lnSpc>
                <a:spcPts val="3190"/>
              </a:lnSpc>
              <a:spcBef>
                <a:spcPts val="635"/>
              </a:spcBef>
              <a:buFont typeface="Arial MT"/>
              <a:buChar char="•"/>
              <a:tabLst>
                <a:tab pos="241935" algn="l"/>
              </a:tabLst>
            </a:pPr>
            <a:r>
              <a:rPr lang="en-US" sz="2200" spc="-10" dirty="0">
                <a:latin typeface="Times New Roman" panose="02020603050405020304" pitchFamily="18" charset="0"/>
                <a:cs typeface="Times New Roman" panose="02020603050405020304" pitchFamily="18" charset="0"/>
              </a:rPr>
              <a:t>The</a:t>
            </a:r>
            <a:r>
              <a:rPr lang="en-US" sz="2200" spc="-5"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evolution</a:t>
            </a:r>
            <a:r>
              <a:rPr lang="en-US" sz="2200" spc="2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of </a:t>
            </a:r>
            <a:r>
              <a:rPr lang="en-US" sz="2200" spc="-15" dirty="0">
                <a:latin typeface="Times New Roman" panose="02020603050405020304" pitchFamily="18" charset="0"/>
                <a:cs typeface="Times New Roman" panose="02020603050405020304" pitchFamily="18" charset="0"/>
              </a:rPr>
              <a:t>ADAS</a:t>
            </a:r>
            <a:r>
              <a:rPr lang="en-US" sz="2200" spc="20" dirty="0">
                <a:latin typeface="Times New Roman" panose="02020603050405020304" pitchFamily="18" charset="0"/>
                <a:cs typeface="Times New Roman" panose="02020603050405020304" pitchFamily="18" charset="0"/>
              </a:rPr>
              <a:t> </a:t>
            </a:r>
            <a:r>
              <a:rPr lang="en-US" sz="2200" spc="-15" dirty="0">
                <a:latin typeface="Times New Roman" panose="02020603050405020304" pitchFamily="18" charset="0"/>
                <a:cs typeface="Times New Roman" panose="02020603050405020304" pitchFamily="18" charset="0"/>
              </a:rPr>
              <a:t>emerged</a:t>
            </a:r>
            <a:r>
              <a:rPr lang="en-US" sz="220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and</a:t>
            </a:r>
            <a:r>
              <a:rPr lang="en-US" sz="2200" spc="25" dirty="0">
                <a:latin typeface="Times New Roman" panose="02020603050405020304" pitchFamily="18" charset="0"/>
                <a:cs typeface="Times New Roman" panose="02020603050405020304" pitchFamily="18" charset="0"/>
              </a:rPr>
              <a:t> </a:t>
            </a:r>
            <a:r>
              <a:rPr lang="en-US" sz="2200" spc="-20" dirty="0">
                <a:latin typeface="Times New Roman" panose="02020603050405020304" pitchFamily="18" charset="0"/>
                <a:cs typeface="Times New Roman" panose="02020603050405020304" pitchFamily="18" charset="0"/>
              </a:rPr>
              <a:t>started</a:t>
            </a:r>
            <a:r>
              <a:rPr lang="en-US" sz="2200" spc="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with</a:t>
            </a:r>
            <a:r>
              <a:rPr lang="en-US" sz="2200" spc="1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a</a:t>
            </a:r>
            <a:r>
              <a:rPr lang="en-US" sz="2200"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gentleman</a:t>
            </a:r>
            <a:r>
              <a:rPr lang="en-US" sz="2200" spc="15"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called</a:t>
            </a:r>
            <a:r>
              <a:rPr lang="en-US" sz="2200" spc="5" dirty="0">
                <a:latin typeface="Times New Roman" panose="02020603050405020304" pitchFamily="18" charset="0"/>
                <a:cs typeface="Times New Roman" panose="02020603050405020304" pitchFamily="18" charset="0"/>
              </a:rPr>
              <a:t> </a:t>
            </a:r>
            <a:r>
              <a:rPr lang="en-US" sz="2200" b="1" spc="-5" dirty="0">
                <a:latin typeface="Times New Roman" panose="02020603050405020304" pitchFamily="18" charset="0"/>
                <a:cs typeface="Times New Roman" panose="02020603050405020304" pitchFamily="18" charset="0"/>
              </a:rPr>
              <a:t>Ralph</a:t>
            </a:r>
            <a:r>
              <a:rPr lang="en-US" sz="2200" b="1" spc="20" dirty="0">
                <a:latin typeface="Times New Roman" panose="02020603050405020304" pitchFamily="18" charset="0"/>
                <a:cs typeface="Times New Roman" panose="02020603050405020304" pitchFamily="18" charset="0"/>
              </a:rPr>
              <a:t> </a:t>
            </a:r>
            <a:r>
              <a:rPr lang="en-US" sz="2200" b="1" spc="-50" dirty="0" err="1">
                <a:latin typeface="Times New Roman" panose="02020603050405020304" pitchFamily="18" charset="0"/>
                <a:cs typeface="Times New Roman" panose="02020603050405020304" pitchFamily="18" charset="0"/>
              </a:rPr>
              <a:t>Teetor</a:t>
            </a:r>
            <a:r>
              <a:rPr lang="en-US" sz="2200" spc="-50" dirty="0">
                <a:latin typeface="Times New Roman" panose="02020603050405020304" pitchFamily="18" charset="0"/>
                <a:cs typeface="Times New Roman" panose="02020603050405020304" pitchFamily="18" charset="0"/>
              </a:rPr>
              <a:t>.</a:t>
            </a:r>
            <a:r>
              <a:rPr lang="en-US" sz="2200" spc="4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He</a:t>
            </a:r>
            <a:r>
              <a:rPr lang="en-US" sz="2200" spc="10" dirty="0">
                <a:latin typeface="Times New Roman" panose="02020603050405020304" pitchFamily="18" charset="0"/>
                <a:cs typeface="Times New Roman" panose="02020603050405020304" pitchFamily="18" charset="0"/>
              </a:rPr>
              <a:t> </a:t>
            </a:r>
            <a:r>
              <a:rPr lang="en-US" sz="2200" spc="-25" dirty="0">
                <a:latin typeface="Times New Roman" panose="02020603050405020304" pitchFamily="18" charset="0"/>
                <a:cs typeface="Times New Roman" panose="02020603050405020304" pitchFamily="18" charset="0"/>
              </a:rPr>
              <a:t>invented</a:t>
            </a:r>
            <a:r>
              <a:rPr lang="en-US" sz="2200" spc="2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the</a:t>
            </a:r>
            <a:r>
              <a:rPr lang="en-US" sz="2200" spc="1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modern</a:t>
            </a:r>
            <a:r>
              <a:rPr lang="en-US" sz="2200" spc="2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cruise</a:t>
            </a:r>
            <a:r>
              <a:rPr lang="en-US" sz="2200" spc="10" dirty="0">
                <a:latin typeface="Times New Roman" panose="02020603050405020304" pitchFamily="18" charset="0"/>
                <a:cs typeface="Times New Roman" panose="02020603050405020304" pitchFamily="18" charset="0"/>
              </a:rPr>
              <a:t> </a:t>
            </a:r>
            <a:r>
              <a:rPr lang="en-US" sz="2200" spc="-20" dirty="0">
                <a:latin typeface="Times New Roman" panose="02020603050405020304" pitchFamily="18" charset="0"/>
                <a:cs typeface="Times New Roman" panose="02020603050405020304" pitchFamily="18" charset="0"/>
              </a:rPr>
              <a:t>control, </a:t>
            </a:r>
            <a:r>
              <a:rPr lang="en-US" sz="2200" spc="-620"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originally</a:t>
            </a:r>
            <a:r>
              <a:rPr lang="en-US" sz="2200" spc="15"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known</a:t>
            </a:r>
            <a:r>
              <a:rPr lang="en-US" sz="2200" spc="2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as</a:t>
            </a:r>
            <a:r>
              <a:rPr lang="en-US" sz="2200" spc="5"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Speedo</a:t>
            </a:r>
            <a:r>
              <a:rPr lang="en-US" sz="2200" dirty="0">
                <a:latin typeface="Times New Roman" panose="02020603050405020304" pitchFamily="18" charset="0"/>
                <a:cs typeface="Times New Roman" panose="02020603050405020304" pitchFamily="18" charset="0"/>
              </a:rPr>
              <a:t> </a:t>
            </a:r>
            <a:r>
              <a:rPr lang="en-US" sz="2200" spc="-25" dirty="0">
                <a:latin typeface="Times New Roman" panose="02020603050405020304" pitchFamily="18" charset="0"/>
                <a:cs typeface="Times New Roman" panose="02020603050405020304" pitchFamily="18" charset="0"/>
              </a:rPr>
              <a:t>stat.</a:t>
            </a:r>
            <a:endParaRPr lang="en-US" sz="22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2237108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0746B-858B-C4BC-FAD6-13F743AF21C9}"/>
              </a:ext>
            </a:extLst>
          </p:cNvPr>
          <p:cNvSpPr>
            <a:spLocks noGrp="1"/>
          </p:cNvSpPr>
          <p:nvPr>
            <p:ph type="title"/>
          </p:nvPr>
        </p:nvSpPr>
        <p:spPr>
          <a:xfrm>
            <a:off x="838200" y="220039"/>
            <a:ext cx="10515600" cy="1093545"/>
          </a:xfrm>
        </p:spPr>
        <p:txBody>
          <a:bodyPr>
            <a:normAutofit/>
          </a:bodyPr>
          <a:lstStyle/>
          <a:p>
            <a:r>
              <a:rPr lang="en-IN" u="heavy" spc="-30" dirty="0">
                <a:solidFill>
                  <a:srgbClr val="7030A0"/>
                </a:solidFill>
                <a:uFill>
                  <a:solidFill>
                    <a:srgbClr val="FFFFFF"/>
                  </a:solidFill>
                </a:uFill>
                <a:latin typeface="Times New Roman" panose="02020603050405020304" pitchFamily="18" charset="0"/>
                <a:cs typeface="Times New Roman" panose="02020603050405020304" pitchFamily="18" charset="0"/>
              </a:rPr>
              <a:t>TYPES</a:t>
            </a:r>
            <a:r>
              <a:rPr lang="en-IN" u="heavy" spc="-85" dirty="0">
                <a:solidFill>
                  <a:srgbClr val="7030A0"/>
                </a:solidFill>
                <a:uFill>
                  <a:solidFill>
                    <a:srgbClr val="FFFFFF"/>
                  </a:solidFill>
                </a:uFill>
                <a:latin typeface="Times New Roman" panose="02020603050405020304" pitchFamily="18" charset="0"/>
                <a:cs typeface="Times New Roman" panose="02020603050405020304" pitchFamily="18" charset="0"/>
              </a:rPr>
              <a:t> </a:t>
            </a:r>
            <a:r>
              <a:rPr lang="en-IN" u="heavy" spc="-15" dirty="0">
                <a:solidFill>
                  <a:srgbClr val="7030A0"/>
                </a:solidFill>
                <a:uFill>
                  <a:solidFill>
                    <a:srgbClr val="FFFFFF"/>
                  </a:solidFill>
                </a:uFill>
                <a:latin typeface="Times New Roman" panose="02020603050405020304" pitchFamily="18" charset="0"/>
                <a:cs typeface="Times New Roman" panose="02020603050405020304" pitchFamily="18" charset="0"/>
              </a:rPr>
              <a:t>OF</a:t>
            </a:r>
            <a:r>
              <a:rPr lang="en-IN" u="heavy" spc="-95" dirty="0">
                <a:solidFill>
                  <a:srgbClr val="7030A0"/>
                </a:solidFill>
                <a:uFill>
                  <a:solidFill>
                    <a:srgbClr val="FFFFFF"/>
                  </a:solidFill>
                </a:uFill>
                <a:latin typeface="Times New Roman" panose="02020603050405020304" pitchFamily="18" charset="0"/>
                <a:cs typeface="Times New Roman" panose="02020603050405020304" pitchFamily="18" charset="0"/>
              </a:rPr>
              <a:t> </a:t>
            </a:r>
            <a:r>
              <a:rPr lang="en-IN" u="heavy" spc="-35" dirty="0">
                <a:solidFill>
                  <a:srgbClr val="7030A0"/>
                </a:solidFill>
                <a:uFill>
                  <a:solidFill>
                    <a:srgbClr val="FFFFFF"/>
                  </a:solidFill>
                </a:uFill>
                <a:latin typeface="Times New Roman" panose="02020603050405020304" pitchFamily="18" charset="0"/>
                <a:cs typeface="Times New Roman" panose="02020603050405020304" pitchFamily="18" charset="0"/>
              </a:rPr>
              <a:t>ADAS</a:t>
            </a:r>
            <a:endParaRPr lang="en-IN" dirty="0">
              <a:solidFill>
                <a:srgbClr val="7030A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D45543F-0832-C25E-9076-A7D976554B17}"/>
              </a:ext>
            </a:extLst>
          </p:cNvPr>
          <p:cNvSpPr>
            <a:spLocks noGrp="1"/>
          </p:cNvSpPr>
          <p:nvPr>
            <p:ph idx="1"/>
          </p:nvPr>
        </p:nvSpPr>
        <p:spPr>
          <a:xfrm>
            <a:off x="838200" y="1690688"/>
            <a:ext cx="10515600" cy="4351338"/>
          </a:xfrm>
        </p:spPr>
        <p:txBody>
          <a:bodyPr>
            <a:normAutofit/>
          </a:bodyPr>
          <a:lstStyle/>
          <a:p>
            <a:pPr marL="241300" indent="-229235" algn="just">
              <a:lnSpc>
                <a:spcPct val="100000"/>
              </a:lnSpc>
              <a:spcBef>
                <a:spcPts val="770"/>
              </a:spcBef>
              <a:buFont typeface="Arial MT"/>
              <a:buChar char="•"/>
              <a:tabLst>
                <a:tab pos="241935" algn="l"/>
              </a:tabLst>
            </a:pPr>
            <a:r>
              <a:rPr lang="en-US" sz="2400" b="1" u="heavy" spc="-15" dirty="0">
                <a:uFill>
                  <a:solidFill>
                    <a:srgbClr val="FFFFFF"/>
                  </a:solidFill>
                </a:uFill>
                <a:latin typeface="Times New Roman" panose="02020603050405020304" pitchFamily="18" charset="0"/>
                <a:cs typeface="Times New Roman" panose="02020603050405020304" pitchFamily="18" charset="0"/>
              </a:rPr>
              <a:t>Passive</a:t>
            </a:r>
            <a:r>
              <a:rPr lang="en-US" sz="2400" b="1" u="heavy" spc="-10" dirty="0">
                <a:uFill>
                  <a:solidFill>
                    <a:srgbClr val="FFFFFF"/>
                  </a:solidFill>
                </a:uFill>
                <a:latin typeface="Times New Roman" panose="02020603050405020304" pitchFamily="18" charset="0"/>
                <a:cs typeface="Times New Roman" panose="02020603050405020304" pitchFamily="18" charset="0"/>
              </a:rPr>
              <a:t> </a:t>
            </a:r>
            <a:r>
              <a:rPr lang="en-US" sz="2400" b="1" u="heavy" spc="-20" dirty="0">
                <a:uFill>
                  <a:solidFill>
                    <a:srgbClr val="FFFFFF"/>
                  </a:solidFill>
                </a:uFill>
                <a:latin typeface="Times New Roman" panose="02020603050405020304" pitchFamily="18" charset="0"/>
                <a:cs typeface="Times New Roman" panose="02020603050405020304" pitchFamily="18" charset="0"/>
              </a:rPr>
              <a:t>ADAS </a:t>
            </a:r>
            <a:r>
              <a:rPr lang="en-US" sz="2400" b="1" u="heavy" spc="-25" dirty="0">
                <a:uFill>
                  <a:solidFill>
                    <a:srgbClr val="FFFFFF"/>
                  </a:solidFill>
                </a:uFill>
                <a:latin typeface="Times New Roman" panose="02020603050405020304" pitchFamily="18" charset="0"/>
                <a:cs typeface="Times New Roman" panose="02020603050405020304" pitchFamily="18" charset="0"/>
              </a:rPr>
              <a:t>systems</a:t>
            </a:r>
            <a:endParaRPr lang="en-US" sz="2400" b="1" dirty="0">
              <a:latin typeface="Times New Roman" panose="02020603050405020304" pitchFamily="18" charset="0"/>
              <a:cs typeface="Times New Roman" panose="02020603050405020304" pitchFamily="18" charset="0"/>
            </a:endParaRPr>
          </a:p>
          <a:p>
            <a:pPr marL="12700" marR="1372235" indent="0" algn="just">
              <a:lnSpc>
                <a:spcPct val="90000"/>
              </a:lnSpc>
              <a:spcBef>
                <a:spcPts val="1010"/>
              </a:spcBef>
              <a:buNone/>
            </a:pPr>
            <a:r>
              <a:rPr lang="en-US" sz="2400" spc="-5" dirty="0">
                <a:latin typeface="Times New Roman" panose="02020603050405020304" pitchFamily="18" charset="0"/>
                <a:cs typeface="Times New Roman" panose="02020603050405020304" pitchFamily="18" charset="0"/>
              </a:rPr>
              <a:t>In a </a:t>
            </a:r>
            <a:r>
              <a:rPr lang="en-US" sz="2400" spc="-10" dirty="0">
                <a:latin typeface="Times New Roman" panose="02020603050405020304" pitchFamily="18" charset="0"/>
                <a:cs typeface="Times New Roman" panose="02020603050405020304" pitchFamily="18" charset="0"/>
              </a:rPr>
              <a:t>passive </a:t>
            </a:r>
            <a:r>
              <a:rPr lang="en-US" sz="2400" spc="-20" dirty="0">
                <a:latin typeface="Times New Roman" panose="02020603050405020304" pitchFamily="18" charset="0"/>
                <a:cs typeface="Times New Roman" panose="02020603050405020304" pitchFamily="18" charset="0"/>
              </a:rPr>
              <a:t>ADAS </a:t>
            </a:r>
            <a:r>
              <a:rPr lang="en-US" sz="2400" spc="-25" dirty="0">
                <a:latin typeface="Times New Roman" panose="02020603050405020304" pitchFamily="18" charset="0"/>
                <a:cs typeface="Times New Roman" panose="02020603050405020304" pitchFamily="18" charset="0"/>
              </a:rPr>
              <a:t>system, </a:t>
            </a:r>
            <a:r>
              <a:rPr lang="en-US" sz="2400" spc="-5" dirty="0">
                <a:latin typeface="Times New Roman" panose="02020603050405020304" pitchFamily="18" charset="0"/>
                <a:cs typeface="Times New Roman" panose="02020603050405020304" pitchFamily="18" charset="0"/>
              </a:rPr>
              <a:t>the </a:t>
            </a:r>
            <a:r>
              <a:rPr lang="en-US" sz="2400" spc="-15" dirty="0">
                <a:latin typeface="Times New Roman" panose="02020603050405020304" pitchFamily="18" charset="0"/>
                <a:cs typeface="Times New Roman" panose="02020603050405020304" pitchFamily="18" charset="0"/>
              </a:rPr>
              <a:t>computer </a:t>
            </a:r>
            <a:r>
              <a:rPr lang="en-US" sz="2400" spc="-5" dirty="0">
                <a:latin typeface="Times New Roman" panose="02020603050405020304" pitchFamily="18" charset="0"/>
                <a:cs typeface="Times New Roman" panose="02020603050405020304" pitchFamily="18" charset="0"/>
              </a:rPr>
              <a:t>alerts the </a:t>
            </a:r>
            <a:r>
              <a:rPr lang="en-US" sz="2400" spc="-10" dirty="0">
                <a:latin typeface="Times New Roman" panose="02020603050405020304" pitchFamily="18" charset="0"/>
                <a:cs typeface="Times New Roman" panose="02020603050405020304" pitchFamily="18" charset="0"/>
              </a:rPr>
              <a:t>driver </a:t>
            </a:r>
            <a:r>
              <a:rPr lang="en-US" sz="2400" spc="-15" dirty="0">
                <a:latin typeface="Times New Roman" panose="02020603050405020304" pitchFamily="18" charset="0"/>
                <a:cs typeface="Times New Roman" panose="02020603050405020304" pitchFamily="18" charset="0"/>
              </a:rPr>
              <a:t>to </a:t>
            </a:r>
            <a:r>
              <a:rPr lang="en-US" sz="2400" spc="-5" dirty="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dangerous circumstance despite </a:t>
            </a:r>
            <a:r>
              <a:rPr lang="en-US" sz="2400" spc="-5" dirty="0">
                <a:latin typeface="Times New Roman" panose="02020603050405020304" pitchFamily="18" charset="0"/>
                <a:cs typeface="Times New Roman" panose="02020603050405020304" pitchFamily="18" charset="0"/>
              </a:rPr>
              <a:t>the number or </a:t>
            </a:r>
            <a:r>
              <a:rPr lang="en-US" sz="2400" dirty="0">
                <a:latin typeface="Times New Roman" panose="02020603050405020304" pitchFamily="18" charset="0"/>
                <a:cs typeface="Times New Roman" panose="02020603050405020304" pitchFamily="18" charset="0"/>
              </a:rPr>
              <a:t>kind </a:t>
            </a:r>
            <a:r>
              <a:rPr lang="en-US" sz="2400" spc="-5" dirty="0">
                <a:latin typeface="Times New Roman" panose="02020603050405020304" pitchFamily="18" charset="0"/>
                <a:cs typeface="Times New Roman" panose="02020603050405020304" pitchFamily="18" charset="0"/>
              </a:rPr>
              <a:t>of </a:t>
            </a:r>
            <a:r>
              <a:rPr lang="en-US" sz="2400" spc="-10" dirty="0">
                <a:latin typeface="Times New Roman" panose="02020603050405020304" pitchFamily="18" charset="0"/>
                <a:cs typeface="Times New Roman" panose="02020603050405020304" pitchFamily="18" charset="0"/>
              </a:rPr>
              <a:t>sensors </a:t>
            </a:r>
            <a:r>
              <a:rPr lang="en-US" sz="2400" spc="-62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deployed.</a:t>
            </a:r>
            <a:endParaRPr lang="en-US" sz="2400" dirty="0">
              <a:latin typeface="Times New Roman" panose="02020603050405020304" pitchFamily="18" charset="0"/>
              <a:cs typeface="Times New Roman" panose="02020603050405020304" pitchFamily="18" charset="0"/>
            </a:endParaRPr>
          </a:p>
          <a:p>
            <a:pPr marL="12700" marR="394335" indent="0">
              <a:lnSpc>
                <a:spcPts val="3020"/>
              </a:lnSpc>
              <a:spcBef>
                <a:spcPts val="1045"/>
              </a:spcBef>
              <a:buNone/>
            </a:pPr>
            <a:r>
              <a:rPr lang="en-US" sz="2400" spc="-5" dirty="0">
                <a:latin typeface="Times New Roman" panose="02020603050405020304" pitchFamily="18" charset="0"/>
                <a:cs typeface="Times New Roman" panose="02020603050405020304" pitchFamily="18" charset="0"/>
              </a:rPr>
              <a:t>warning</a:t>
            </a:r>
            <a:r>
              <a:rPr lang="en-US" sz="2400" dirty="0">
                <a:latin typeface="Times New Roman" panose="02020603050405020304" pitchFamily="18" charset="0"/>
                <a:cs typeface="Times New Roman" panose="02020603050405020304" pitchFamily="18" charset="0"/>
              </a:rPr>
              <a:t> </a:t>
            </a:r>
            <a:r>
              <a:rPr lang="en-US" sz="2400" spc="-25" dirty="0">
                <a:latin typeface="Times New Roman" panose="02020603050405020304" pitchFamily="18" charset="0"/>
                <a:cs typeface="Times New Roman" panose="02020603050405020304" pitchFamily="18" charset="0"/>
              </a:rPr>
              <a:t>systems</a:t>
            </a:r>
            <a:r>
              <a:rPr lang="en-US" sz="2400" spc="15"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are</a:t>
            </a:r>
            <a:r>
              <a:rPr lang="en-US" sz="2400" spc="2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a:t>
            </a:r>
            <a:r>
              <a:rPr lang="en-US" sz="2400" spc="1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sirens,</a:t>
            </a:r>
            <a:r>
              <a:rPr lang="en-US" sz="2400" spc="2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flashing</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lights</a:t>
            </a:r>
            <a:r>
              <a:rPr lang="en-US" sz="2400" spc="2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and</a:t>
            </a:r>
            <a:r>
              <a:rPr lang="en-US" sz="2400" spc="1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in</a:t>
            </a:r>
            <a:r>
              <a:rPr lang="en-US" sz="2400" spc="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some</a:t>
            </a:r>
            <a:r>
              <a:rPr lang="en-US" sz="240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cases</a:t>
            </a:r>
            <a:r>
              <a:rPr lang="en-US" sz="2400" spc="6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tactile </a:t>
            </a:r>
            <a:r>
              <a:rPr lang="en-US" sz="2400" spc="-62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input,</a:t>
            </a:r>
            <a:r>
              <a:rPr lang="en-US" sz="2400" spc="2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such as</a:t>
            </a:r>
            <a:r>
              <a:rPr lang="en-US" sz="2400" spc="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a</a:t>
            </a:r>
            <a:r>
              <a:rPr lang="en-US" sz="2400" spc="15"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steering</a:t>
            </a:r>
            <a:r>
              <a:rPr lang="en-US" sz="2400" spc="3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wheel</a:t>
            </a:r>
            <a:r>
              <a:rPr lang="en-US" sz="2400" spc="3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that</a:t>
            </a:r>
            <a:r>
              <a:rPr lang="en-US" sz="2400" spc="20"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vibrates</a:t>
            </a:r>
            <a:r>
              <a:rPr lang="en-US" sz="2400" spc="30"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to</a:t>
            </a:r>
            <a:r>
              <a:rPr lang="en-US" sz="240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alert</a:t>
            </a:r>
            <a:r>
              <a:rPr lang="en-US" sz="2400" spc="4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the</a:t>
            </a:r>
            <a:r>
              <a:rPr lang="en-US" sz="2400" spc="2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driver</a:t>
            </a:r>
            <a:endParaRPr lang="en-US" sz="2400" dirty="0">
              <a:latin typeface="Times New Roman" panose="02020603050405020304" pitchFamily="18" charset="0"/>
              <a:cs typeface="Times New Roman" panose="02020603050405020304" pitchFamily="18" charset="0"/>
            </a:endParaRPr>
          </a:p>
          <a:p>
            <a:pPr marL="241300" indent="-229235">
              <a:lnSpc>
                <a:spcPct val="100000"/>
              </a:lnSpc>
              <a:spcBef>
                <a:spcPts val="620"/>
              </a:spcBef>
              <a:buFont typeface="Arial MT"/>
              <a:buChar char="•"/>
              <a:tabLst>
                <a:tab pos="241935" algn="l"/>
              </a:tabLst>
            </a:pPr>
            <a:r>
              <a:rPr lang="en-US" sz="2400" b="1" u="heavy" spc="-10" dirty="0">
                <a:uFill>
                  <a:solidFill>
                    <a:srgbClr val="FFFFFF"/>
                  </a:solidFill>
                </a:uFill>
                <a:latin typeface="Times New Roman" panose="02020603050405020304" pitchFamily="18" charset="0"/>
                <a:cs typeface="Times New Roman" panose="02020603050405020304" pitchFamily="18" charset="0"/>
              </a:rPr>
              <a:t>Active</a:t>
            </a:r>
            <a:r>
              <a:rPr lang="en-US" sz="2400" b="1" u="heavy" spc="-5" dirty="0">
                <a:uFill>
                  <a:solidFill>
                    <a:srgbClr val="FFFFFF"/>
                  </a:solidFill>
                </a:uFill>
                <a:latin typeface="Times New Roman" panose="02020603050405020304" pitchFamily="18" charset="0"/>
                <a:cs typeface="Times New Roman" panose="02020603050405020304" pitchFamily="18" charset="0"/>
              </a:rPr>
              <a:t> </a:t>
            </a:r>
            <a:r>
              <a:rPr lang="en-US" sz="2400" b="1" u="heavy" spc="-20" dirty="0">
                <a:uFill>
                  <a:solidFill>
                    <a:srgbClr val="FFFFFF"/>
                  </a:solidFill>
                </a:uFill>
                <a:latin typeface="Times New Roman" panose="02020603050405020304" pitchFamily="18" charset="0"/>
                <a:cs typeface="Times New Roman" panose="02020603050405020304" pitchFamily="18" charset="0"/>
              </a:rPr>
              <a:t>ADAS</a:t>
            </a:r>
            <a:r>
              <a:rPr lang="en-US" sz="2400" b="1" u="heavy" spc="-5" dirty="0">
                <a:uFill>
                  <a:solidFill>
                    <a:srgbClr val="FFFFFF"/>
                  </a:solidFill>
                </a:uFill>
                <a:latin typeface="Times New Roman" panose="02020603050405020304" pitchFamily="18" charset="0"/>
                <a:cs typeface="Times New Roman" panose="02020603050405020304" pitchFamily="18" charset="0"/>
              </a:rPr>
              <a:t> </a:t>
            </a:r>
            <a:r>
              <a:rPr lang="en-US" sz="2400" b="1" u="heavy" spc="-25" dirty="0">
                <a:uFill>
                  <a:solidFill>
                    <a:srgbClr val="FFFFFF"/>
                  </a:solidFill>
                </a:uFill>
                <a:latin typeface="Times New Roman" panose="02020603050405020304" pitchFamily="18" charset="0"/>
                <a:cs typeface="Times New Roman" panose="02020603050405020304" pitchFamily="18" charset="0"/>
              </a:rPr>
              <a:t>systems</a:t>
            </a:r>
            <a:endParaRPr lang="en-US" sz="2400" b="1" dirty="0">
              <a:latin typeface="Times New Roman" panose="02020603050405020304" pitchFamily="18" charset="0"/>
              <a:cs typeface="Times New Roman" panose="02020603050405020304" pitchFamily="18" charset="0"/>
            </a:endParaRPr>
          </a:p>
          <a:p>
            <a:pPr marL="12700" marR="5080" indent="0">
              <a:lnSpc>
                <a:spcPct val="90000"/>
              </a:lnSpc>
              <a:spcBef>
                <a:spcPts val="1010"/>
              </a:spcBef>
              <a:buNone/>
            </a:pPr>
            <a:r>
              <a:rPr lang="en-US" sz="2400" spc="-10" dirty="0">
                <a:latin typeface="Times New Roman" panose="02020603050405020304" pitchFamily="18" charset="0"/>
                <a:cs typeface="Times New Roman" panose="02020603050405020304" pitchFamily="18" charset="0"/>
              </a:rPr>
              <a:t>The</a:t>
            </a:r>
            <a:r>
              <a:rPr lang="en-US" sz="2400" spc="2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vehicle</a:t>
            </a:r>
            <a:r>
              <a:rPr lang="en-US" sz="2400" spc="2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can</a:t>
            </a:r>
            <a:r>
              <a:rPr lang="en-US" sz="2400" spc="5" dirty="0">
                <a:latin typeface="Times New Roman" panose="02020603050405020304" pitchFamily="18" charset="0"/>
                <a:cs typeface="Times New Roman" panose="02020603050405020304" pitchFamily="18" charset="0"/>
              </a:rPr>
              <a:t> </a:t>
            </a:r>
            <a:r>
              <a:rPr lang="en-US" sz="2400" spc="-30" dirty="0">
                <a:latin typeface="Times New Roman" panose="02020603050405020304" pitchFamily="18" charset="0"/>
                <a:cs typeface="Times New Roman" panose="02020603050405020304" pitchFamily="18" charset="0"/>
              </a:rPr>
              <a:t>take</a:t>
            </a:r>
            <a:r>
              <a:rPr lang="en-US" sz="2400" spc="1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action</a:t>
            </a:r>
            <a:r>
              <a:rPr lang="en-US" sz="2400" spc="1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on</a:t>
            </a:r>
            <a:r>
              <a:rPr lang="en-US" sz="2400" spc="1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its</a:t>
            </a:r>
            <a:r>
              <a:rPr lang="en-US" sz="2400" spc="1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own.</a:t>
            </a:r>
            <a:r>
              <a:rPr lang="en-US" sz="2400" spc="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Automatic</a:t>
            </a:r>
            <a:r>
              <a:rPr lang="en-US" sz="2400" spc="25"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emergency</a:t>
            </a:r>
            <a:r>
              <a:rPr lang="en-US" sz="2400" spc="35"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braking </a:t>
            </a:r>
            <a:r>
              <a:rPr lang="en-US" sz="2400" spc="-1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(AEB)</a:t>
            </a:r>
            <a:r>
              <a:rPr lang="en-US" sz="2400" spc="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detects</a:t>
            </a:r>
            <a:r>
              <a:rPr lang="en-US" sz="2400" spc="4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an</a:t>
            </a:r>
            <a:r>
              <a:rPr lang="en-US" sz="2400" spc="1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impending</a:t>
            </a:r>
            <a:r>
              <a:rPr lang="en-US" sz="2400" spc="2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accident</a:t>
            </a:r>
            <a:r>
              <a:rPr lang="en-US" sz="2400" spc="3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and</a:t>
            </a:r>
            <a:r>
              <a:rPr lang="en-US" sz="2400" spc="1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applies</a:t>
            </a:r>
            <a:r>
              <a:rPr lang="en-US" sz="2400" spc="3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the</a:t>
            </a:r>
            <a:r>
              <a:rPr lang="en-US" sz="2400" spc="25" dirty="0">
                <a:latin typeface="Times New Roman" panose="02020603050405020304" pitchFamily="18" charset="0"/>
                <a:cs typeface="Times New Roman" panose="02020603050405020304" pitchFamily="18" charset="0"/>
              </a:rPr>
              <a:t> </a:t>
            </a:r>
            <a:r>
              <a:rPr lang="en-US" sz="2400" spc="-25" dirty="0">
                <a:latin typeface="Times New Roman" panose="02020603050405020304" pitchFamily="18" charset="0"/>
                <a:cs typeface="Times New Roman" panose="02020603050405020304" pitchFamily="18" charset="0"/>
              </a:rPr>
              <a:t>brakes</a:t>
            </a:r>
            <a:r>
              <a:rPr lang="en-US" sz="2400" spc="2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without</a:t>
            </a:r>
            <a:r>
              <a:rPr lang="en-US" sz="2400" spc="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the </a:t>
            </a:r>
            <a:r>
              <a:rPr lang="en-US" sz="2400" spc="-615"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driver’s</a:t>
            </a:r>
            <a:r>
              <a:rPr lang="en-US" sz="2400" spc="3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assistance.</a:t>
            </a:r>
            <a:r>
              <a:rPr lang="en-US" sz="2400" spc="5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Functional</a:t>
            </a:r>
            <a:r>
              <a:rPr lang="en-US" sz="2400" spc="30" dirty="0">
                <a:latin typeface="Times New Roman" panose="02020603050405020304" pitchFamily="18" charset="0"/>
                <a:cs typeface="Times New Roman" panose="02020603050405020304" pitchFamily="18" charset="0"/>
              </a:rPr>
              <a:t> </a:t>
            </a:r>
            <a:r>
              <a:rPr lang="en-US" sz="2400" spc="-20" dirty="0">
                <a:latin typeface="Times New Roman" panose="02020603050405020304" pitchFamily="18" charset="0"/>
                <a:cs typeface="Times New Roman" panose="02020603050405020304" pitchFamily="18" charset="0"/>
              </a:rPr>
              <a:t>features</a:t>
            </a:r>
            <a:r>
              <a:rPr lang="en-US" sz="2400" spc="4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include</a:t>
            </a:r>
            <a:r>
              <a:rPr lang="en-US" sz="2400" spc="4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adaptive</a:t>
            </a:r>
            <a:r>
              <a:rPr lang="en-US" sz="2400" spc="5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cruise</a:t>
            </a:r>
            <a:r>
              <a:rPr lang="en-US" sz="2400" spc="30"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control </a:t>
            </a:r>
            <a:r>
              <a:rPr lang="en-US" sz="2400" spc="-10" dirty="0">
                <a:latin typeface="Times New Roman" panose="02020603050405020304" pitchFamily="18" charset="0"/>
                <a:cs typeface="Times New Roman" panose="02020603050405020304" pitchFamily="18" charset="0"/>
              </a:rPr>
              <a:t> (ACC),</a:t>
            </a:r>
            <a:r>
              <a:rPr lang="en-US" sz="2400" spc="40"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lane-keeping</a:t>
            </a:r>
            <a:r>
              <a:rPr lang="en-US" sz="2400" spc="6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assist</a:t>
            </a:r>
            <a:r>
              <a:rPr lang="en-US" sz="2400" spc="1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(LKA),</a:t>
            </a:r>
            <a:r>
              <a:rPr lang="en-US" sz="2400" spc="1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lane</a:t>
            </a:r>
            <a:r>
              <a:rPr lang="en-US" sz="2400" spc="20"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centering</a:t>
            </a:r>
            <a:r>
              <a:rPr lang="en-US" sz="2400" spc="3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(LC),</a:t>
            </a:r>
            <a:r>
              <a:rPr lang="en-US" sz="2400" spc="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and</a:t>
            </a:r>
            <a:r>
              <a:rPr lang="en-US" sz="2400" spc="10" dirty="0">
                <a:latin typeface="Times New Roman" panose="02020603050405020304" pitchFamily="18" charset="0"/>
                <a:cs typeface="Times New Roman" panose="02020603050405020304" pitchFamily="18" charset="0"/>
              </a:rPr>
              <a:t> </a:t>
            </a:r>
            <a:r>
              <a:rPr lang="en-US" sz="2400" spc="-15" dirty="0">
                <a:latin typeface="Times New Roman" panose="02020603050405020304" pitchFamily="18" charset="0"/>
                <a:cs typeface="Times New Roman" panose="02020603050405020304" pitchFamily="18" charset="0"/>
              </a:rPr>
              <a:t>traffic</a:t>
            </a:r>
            <a:r>
              <a:rPr lang="en-US" sz="2400" spc="20"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jam </a:t>
            </a:r>
            <a:r>
              <a:rPr lang="en-US" sz="2400" spc="-5" dirty="0">
                <a:latin typeface="Times New Roman" panose="02020603050405020304" pitchFamily="18" charset="0"/>
                <a:cs typeface="Times New Roman" panose="02020603050405020304" pitchFamily="18" charset="0"/>
              </a:rPr>
              <a:t> </a:t>
            </a:r>
            <a:r>
              <a:rPr lang="en-US" sz="2400" spc="-10" dirty="0">
                <a:latin typeface="Times New Roman" panose="02020603050405020304" pitchFamily="18" charset="0"/>
                <a:cs typeface="Times New Roman" panose="02020603050405020304" pitchFamily="18" charset="0"/>
              </a:rPr>
              <a:t>assist.</a:t>
            </a:r>
            <a:endParaRPr lang="en-US" sz="24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404334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B493A-45CA-43C8-E79A-3CFCA2A32FDD}"/>
              </a:ext>
            </a:extLst>
          </p:cNvPr>
          <p:cNvSpPr>
            <a:spLocks noGrp="1"/>
          </p:cNvSpPr>
          <p:nvPr>
            <p:ph type="title"/>
          </p:nvPr>
        </p:nvSpPr>
        <p:spPr>
          <a:xfrm>
            <a:off x="759542" y="191909"/>
            <a:ext cx="10515600" cy="1188720"/>
          </a:xfrm>
        </p:spPr>
        <p:txBody>
          <a:bodyPr/>
          <a:lstStyle/>
          <a:p>
            <a:r>
              <a:rPr lang="en-IN" b="0" i="0" dirty="0">
                <a:solidFill>
                  <a:srgbClr val="5A2A82"/>
                </a:solidFill>
                <a:effectLst/>
                <a:latin typeface="Times New Roman" panose="02020603050405020304" pitchFamily="18" charset="0"/>
                <a:cs typeface="Times New Roman" panose="02020603050405020304" pitchFamily="18" charset="0"/>
              </a:rPr>
              <a:t>How does ADAS work?</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BC08769-0F12-2B6B-31A2-D765FE39481A}"/>
              </a:ext>
            </a:extLst>
          </p:cNvPr>
          <p:cNvSpPr>
            <a:spLocks noGrp="1"/>
          </p:cNvSpPr>
          <p:nvPr>
            <p:ph idx="1"/>
          </p:nvPr>
        </p:nvSpPr>
        <p:spPr>
          <a:xfrm>
            <a:off x="759542" y="1690688"/>
            <a:ext cx="10515600" cy="4351338"/>
          </a:xfrm>
        </p:spPr>
        <p:txBody>
          <a:bodyPr>
            <a:normAutofit/>
          </a:bodyPr>
          <a:lstStyle/>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Automobiles are the foundation of the next generation of mobile-connected devices, with rapid advances being made in autonomous vehicles. Autonomous application solutions are partitioned into various chips, called system on a chip(SoCs). These chips connect sensors to actuators through interfaces and high-performance electronic controller units (ECUs).</a:t>
            </a:r>
          </a:p>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Self-driving cars use a variety of these applications and technologies to gain 360-degree vision, both near (in the vehicle’s immediate vicinity) and far. That means hardware designs are using more advanced process nodes to meet ever-higher performance targets while simultaneously reducing demands on power and footprint. </a:t>
            </a:r>
          </a:p>
          <a:p>
            <a:endParaRPr lang="en-IN" dirty="0"/>
          </a:p>
        </p:txBody>
      </p:sp>
    </p:spTree>
    <p:extLst>
      <p:ext uri="{BB962C8B-B14F-4D97-AF65-F5344CB8AC3E}">
        <p14:creationId xmlns:p14="http://schemas.microsoft.com/office/powerpoint/2010/main" val="4034981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0AFA1-C089-42B7-ADCC-C03777676F18}"/>
              </a:ext>
            </a:extLst>
          </p:cNvPr>
          <p:cNvSpPr>
            <a:spLocks noGrp="1"/>
          </p:cNvSpPr>
          <p:nvPr>
            <p:ph type="title"/>
          </p:nvPr>
        </p:nvSpPr>
        <p:spPr>
          <a:xfrm>
            <a:off x="838200" y="185956"/>
            <a:ext cx="10263204" cy="1188720"/>
          </a:xfrm>
        </p:spPr>
        <p:txBody>
          <a:bodyPr/>
          <a:lstStyle/>
          <a:p>
            <a:r>
              <a:rPr lang="en-IN" b="1" dirty="0">
                <a:solidFill>
                  <a:srgbClr val="7030A0"/>
                </a:solidFill>
                <a:latin typeface="Times New Roman" panose="02020603050405020304" pitchFamily="18" charset="0"/>
                <a:cs typeface="Times New Roman" panose="02020603050405020304" pitchFamily="18" charset="0"/>
              </a:rPr>
              <a:t>Working</a:t>
            </a:r>
          </a:p>
        </p:txBody>
      </p:sp>
      <p:pic>
        <p:nvPicPr>
          <p:cNvPr id="5" name="Content Placeholder 4">
            <a:extLst>
              <a:ext uri="{FF2B5EF4-FFF2-40B4-BE49-F238E27FC236}">
                <a16:creationId xmlns:a16="http://schemas.microsoft.com/office/drawing/2014/main" id="{F62D743A-228F-8291-61F0-CFD3D2B9E89E}"/>
              </a:ext>
            </a:extLst>
          </p:cNvPr>
          <p:cNvPicPr>
            <a:picLocks noGrp="1" noChangeAspect="1"/>
          </p:cNvPicPr>
          <p:nvPr>
            <p:ph idx="1"/>
          </p:nvPr>
        </p:nvPicPr>
        <p:blipFill>
          <a:blip r:embed="rId2"/>
          <a:stretch>
            <a:fillRect/>
          </a:stretch>
        </p:blipFill>
        <p:spPr>
          <a:xfrm>
            <a:off x="838200" y="1897167"/>
            <a:ext cx="10263204" cy="4299598"/>
          </a:xfrm>
        </p:spPr>
      </p:pic>
    </p:spTree>
    <p:extLst>
      <p:ext uri="{BB962C8B-B14F-4D97-AF65-F5344CB8AC3E}">
        <p14:creationId xmlns:p14="http://schemas.microsoft.com/office/powerpoint/2010/main" val="4251568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9C4F778-F90E-8F9E-9F6D-78B37396F8F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1587570" y="786064"/>
            <a:ext cx="9417314" cy="4844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3614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6594E-D983-5B75-39FE-A7078603ECD9}"/>
              </a:ext>
            </a:extLst>
          </p:cNvPr>
          <p:cNvSpPr>
            <a:spLocks noGrp="1"/>
          </p:cNvSpPr>
          <p:nvPr>
            <p:ph type="title"/>
          </p:nvPr>
        </p:nvSpPr>
        <p:spPr>
          <a:xfrm>
            <a:off x="838200" y="221614"/>
            <a:ext cx="10515600" cy="1188720"/>
          </a:xfrm>
        </p:spPr>
        <p:txBody>
          <a:bodyPr/>
          <a:lstStyle/>
          <a:p>
            <a:r>
              <a:rPr lang="en-US" b="0" i="0" dirty="0">
                <a:solidFill>
                  <a:srgbClr val="5A2A82"/>
                </a:solidFill>
                <a:effectLst/>
                <a:latin typeface="Times New Roman" panose="02020603050405020304" pitchFamily="18" charset="0"/>
                <a:cs typeface="Times New Roman" panose="02020603050405020304" pitchFamily="18" charset="0"/>
              </a:rPr>
              <a:t>What are some ADAS applications?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9032EF9-3D5B-368A-084F-D4B8F3DDDA7F}"/>
              </a:ext>
            </a:extLst>
          </p:cNvPr>
          <p:cNvSpPr>
            <a:spLocks noGrp="1"/>
          </p:cNvSpPr>
          <p:nvPr>
            <p:ph idx="1"/>
          </p:nvPr>
        </p:nvSpPr>
        <p:spPr>
          <a:xfrm>
            <a:off x="838200" y="1690688"/>
            <a:ext cx="10515600" cy="4351338"/>
          </a:xfrm>
        </p:spPr>
        <p:txBody>
          <a:bodyPr>
            <a:normAutofit lnSpcReduction="10000"/>
          </a:bodyPr>
          <a:lstStyle/>
          <a:p>
            <a:pPr algn="just"/>
            <a:r>
              <a:rPr lang="en-US" sz="2400" b="0" i="0" dirty="0">
                <a:solidFill>
                  <a:srgbClr val="111C24"/>
                </a:solidFill>
                <a:effectLst/>
                <a:latin typeface="Times New Roman" panose="02020603050405020304" pitchFamily="18" charset="0"/>
                <a:cs typeface="Times New Roman" panose="02020603050405020304" pitchFamily="18" charset="0"/>
              </a:rPr>
              <a:t>Significant automotive safety improvements in the past (e.g., shatter-resistant glass, three-point seatbelts, airbags) were passive safety measures designed to minimize injury during an accident. Today, ADAS systems actively improve safety with the help of embedded vision by reducing the occurrence of accidents and injury to occupants.</a:t>
            </a:r>
          </a:p>
          <a:p>
            <a:pPr algn="just"/>
            <a:r>
              <a:rPr lang="en-US" sz="2400" b="0" i="0" dirty="0">
                <a:solidFill>
                  <a:srgbClr val="111C24"/>
                </a:solidFill>
                <a:effectLst/>
                <a:latin typeface="Times New Roman" panose="02020603050405020304" pitchFamily="18" charset="0"/>
                <a:cs typeface="Times New Roman" panose="02020603050405020304" pitchFamily="18" charset="0"/>
              </a:rPr>
              <a:t>The implementation of cameras in the vehicle involves a new AI function that uses sensor fusion to identify and process objects. Sensor fusion, similar to how the human brain process information, combines large amounts of data with the help of image recognition software, ultrasound sensors, lidar, and radar. This technology can physically respond faster than a human driver ever could. It can analyze streaming video in real time, recognize what the video shows, and determine how to react to it.</a:t>
            </a:r>
          </a:p>
          <a:p>
            <a:endParaRPr lang="en-IN" dirty="0"/>
          </a:p>
        </p:txBody>
      </p:sp>
    </p:spTree>
    <p:extLst>
      <p:ext uri="{BB962C8B-B14F-4D97-AF65-F5344CB8AC3E}">
        <p14:creationId xmlns:p14="http://schemas.microsoft.com/office/powerpoint/2010/main" val="3633109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BB12C-1111-B3C5-8F0D-B17C1270EE94}"/>
              </a:ext>
            </a:extLst>
          </p:cNvPr>
          <p:cNvSpPr>
            <a:spLocks noGrp="1"/>
          </p:cNvSpPr>
          <p:nvPr>
            <p:ph type="title"/>
          </p:nvPr>
        </p:nvSpPr>
        <p:spPr>
          <a:xfrm>
            <a:off x="838199" y="322666"/>
            <a:ext cx="10515599" cy="1188720"/>
          </a:xfrm>
        </p:spPr>
        <p:txBody>
          <a:bodyPr/>
          <a:lstStyle/>
          <a:p>
            <a:pPr algn="just"/>
            <a:r>
              <a:rPr lang="en-US" b="0" i="0" dirty="0">
                <a:solidFill>
                  <a:srgbClr val="111C24"/>
                </a:solidFill>
                <a:effectLst/>
                <a:latin typeface="Times New Roman" panose="02020603050405020304" pitchFamily="18" charset="0"/>
                <a:cs typeface="Times New Roman" panose="02020603050405020304" pitchFamily="18" charset="0"/>
              </a:rPr>
              <a:t>These are some of the most common ADAS applications: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7C80D9D-DF43-AD8C-02D9-9D6D73E385EA}"/>
              </a:ext>
            </a:extLst>
          </p:cNvPr>
          <p:cNvSpPr>
            <a:spLocks noGrp="1"/>
          </p:cNvSpPr>
          <p:nvPr>
            <p:ph idx="1"/>
          </p:nvPr>
        </p:nvSpPr>
        <p:spPr>
          <a:xfrm>
            <a:off x="838200" y="1690688"/>
            <a:ext cx="10515600" cy="4351338"/>
          </a:xfrm>
        </p:spPr>
        <p:txBody>
          <a:bodyPr/>
          <a:lstStyle/>
          <a:p>
            <a:pPr algn="just"/>
            <a:r>
              <a:rPr lang="en-IN" b="1" i="0" dirty="0">
                <a:solidFill>
                  <a:srgbClr val="111C24"/>
                </a:solidFill>
                <a:effectLst/>
                <a:latin typeface="Times New Roman" panose="02020603050405020304" pitchFamily="18" charset="0"/>
                <a:cs typeface="Times New Roman" panose="02020603050405020304" pitchFamily="18" charset="0"/>
              </a:rPr>
              <a:t>Adaptive Cruise Control</a:t>
            </a:r>
          </a:p>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Adaptive cruise control is particularly helpful on the highway, where drivers can find it difficult to monitor their speed and other cars over a long period of time. Advanced cruise control can automatically accelerate, slow down, and at times stop the vehicle, depending on the action’s other objects in the immediate area.</a:t>
            </a:r>
            <a:endParaRPr lang="en-IN" sz="2200" b="0" i="0" dirty="0">
              <a:solidFill>
                <a:srgbClr val="111C24"/>
              </a:solidFill>
              <a:effectLst/>
              <a:latin typeface="Times New Roman" panose="02020603050405020304" pitchFamily="18" charset="0"/>
              <a:cs typeface="Times New Roman" panose="02020603050405020304" pitchFamily="18" charset="0"/>
            </a:endParaRPr>
          </a:p>
          <a:p>
            <a:pPr algn="just"/>
            <a:r>
              <a:rPr lang="en-US" b="1" i="0" dirty="0">
                <a:solidFill>
                  <a:srgbClr val="111C24"/>
                </a:solidFill>
                <a:effectLst/>
                <a:latin typeface="Times New Roman" panose="02020603050405020304" pitchFamily="18" charset="0"/>
                <a:cs typeface="Times New Roman" panose="02020603050405020304" pitchFamily="18" charset="0"/>
              </a:rPr>
              <a:t>Glare-Free High Beam and Pixel Light</a:t>
            </a:r>
            <a:endParaRPr lang="en-US" dirty="0">
              <a:solidFill>
                <a:srgbClr val="111C24"/>
              </a:solidFill>
              <a:latin typeface="Times New Roman" panose="02020603050405020304" pitchFamily="18" charset="0"/>
              <a:cs typeface="Times New Roman" panose="02020603050405020304" pitchFamily="18" charset="0"/>
            </a:endParaRPr>
          </a:p>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Glare-free high beam and pixel light uses sensors to adjust to darkness and the vehicle’s surroundings without disturbing oncoming traffic. This new headlight application detects the lights of other vehicles and redirects the vehicle’s lights away to prevent other road users from being temporarily blinded.</a:t>
            </a:r>
            <a:endParaRPr lang="en-IN" sz="2200" dirty="0">
              <a:solidFill>
                <a:srgbClr val="111C24"/>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2981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B7EA1B-6B42-BC96-ABC2-D4B09341BE80}"/>
              </a:ext>
            </a:extLst>
          </p:cNvPr>
          <p:cNvSpPr>
            <a:spLocks noGrp="1"/>
          </p:cNvSpPr>
          <p:nvPr>
            <p:ph idx="1"/>
          </p:nvPr>
        </p:nvSpPr>
        <p:spPr>
          <a:xfrm>
            <a:off x="838200" y="540774"/>
            <a:ext cx="10515600" cy="5636189"/>
          </a:xfrm>
        </p:spPr>
        <p:txBody>
          <a:bodyPr>
            <a:normAutofit/>
          </a:bodyPr>
          <a:lstStyle/>
          <a:p>
            <a:pPr algn="just"/>
            <a:r>
              <a:rPr lang="en-IN" b="1" i="0" dirty="0">
                <a:solidFill>
                  <a:srgbClr val="111C24"/>
                </a:solidFill>
                <a:effectLst/>
                <a:latin typeface="Times New Roman" panose="02020603050405020304" pitchFamily="18" charset="0"/>
                <a:cs typeface="Times New Roman" panose="02020603050405020304" pitchFamily="18" charset="0"/>
              </a:rPr>
              <a:t>Adaptive Light Control</a:t>
            </a:r>
          </a:p>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Adaptive light control adapts the vehicle’s headlights to external lighting conditions. It changes the strength, direction, and rotation of the headlights depending on the vehicle’s environment and darkness.</a:t>
            </a:r>
            <a:endParaRPr lang="en-IN" sz="2200" b="1" dirty="0">
              <a:solidFill>
                <a:srgbClr val="111C24"/>
              </a:solidFill>
              <a:latin typeface="Times New Roman" panose="02020603050405020304" pitchFamily="18" charset="0"/>
              <a:cs typeface="Times New Roman" panose="02020603050405020304" pitchFamily="18" charset="0"/>
            </a:endParaRPr>
          </a:p>
          <a:p>
            <a:pPr algn="just"/>
            <a:r>
              <a:rPr lang="en-IN" b="1" i="0" dirty="0">
                <a:solidFill>
                  <a:srgbClr val="111C24"/>
                </a:solidFill>
                <a:effectLst/>
                <a:latin typeface="Times New Roman" panose="02020603050405020304" pitchFamily="18" charset="0"/>
                <a:cs typeface="Times New Roman" panose="02020603050405020304" pitchFamily="18" charset="0"/>
              </a:rPr>
              <a:t>Automatic Parking</a:t>
            </a:r>
          </a:p>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Automatic parking helps inform drivers of unseen areas so they know when to turn the steering wheel and stop. Vehicles equipped with rearview cameras have a better view of their surroundings than traditional side mirrors. Some systems can even complete parking automatically without the driver’s help by combining the input of multiple sensors.</a:t>
            </a:r>
          </a:p>
          <a:p>
            <a:pPr algn="just"/>
            <a:r>
              <a:rPr lang="en-IN" b="1" i="0" dirty="0">
                <a:solidFill>
                  <a:srgbClr val="111C24"/>
                </a:solidFill>
                <a:effectLst/>
                <a:latin typeface="Times New Roman" panose="02020603050405020304" pitchFamily="18" charset="0"/>
                <a:cs typeface="Times New Roman" panose="02020603050405020304" pitchFamily="18" charset="0"/>
              </a:rPr>
              <a:t>Autonomous Valet Parking</a:t>
            </a:r>
          </a:p>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Autonomous valet parking is a new technology that works via vehicle sensor meshing, 5G network communication, and cloud services that manage autonomous vehicles in parking areas. Sensors provide the vehicle with information about where it is, where it needs to go, and how to get there safely. All this information is methodically evaluated and used to perform drive acceleration, braking, and steering until the vehicle is safely parked</a:t>
            </a:r>
            <a:r>
              <a:rPr lang="en-US" sz="2200" b="0" i="0" dirty="0">
                <a:solidFill>
                  <a:srgbClr val="111C24"/>
                </a:solidFill>
                <a:effectLst/>
                <a:latin typeface="Roboto" panose="020B0604020202020204" pitchFamily="2" charset="0"/>
              </a:rPr>
              <a:t>.</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794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5B59EA-C86A-BAEF-CE10-F4776AFFC80F}"/>
              </a:ext>
            </a:extLst>
          </p:cNvPr>
          <p:cNvSpPr>
            <a:spLocks noGrp="1"/>
          </p:cNvSpPr>
          <p:nvPr>
            <p:ph idx="1"/>
          </p:nvPr>
        </p:nvSpPr>
        <p:spPr>
          <a:xfrm>
            <a:off x="732502" y="383458"/>
            <a:ext cx="10515600" cy="6322142"/>
          </a:xfrm>
        </p:spPr>
        <p:txBody>
          <a:bodyPr/>
          <a:lstStyle/>
          <a:p>
            <a:pPr algn="just"/>
            <a:r>
              <a:rPr lang="en-IN" b="1" i="0" dirty="0">
                <a:solidFill>
                  <a:srgbClr val="111C24"/>
                </a:solidFill>
                <a:effectLst/>
                <a:latin typeface="Times New Roman" panose="02020603050405020304" pitchFamily="18" charset="0"/>
                <a:cs typeface="Times New Roman" panose="02020603050405020304" pitchFamily="18" charset="0"/>
              </a:rPr>
              <a:t>Navigation System</a:t>
            </a:r>
          </a:p>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Car navigation systems provide on-screen instructions and voice prompts to help drivers follow a route while concentrating on the road. Some navigation systems can display exact traffic data, and if necessary, plan a new route to avoid traffic jams. Advanced systems may even offer heads-up displays to reduce driver distraction.</a:t>
            </a:r>
          </a:p>
          <a:p>
            <a:pPr marL="0" indent="0">
              <a:buNone/>
            </a:pPr>
            <a:endParaRPr lang="en-IN" sz="2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DE4A7A0-2D5C-C0D7-76CC-E3D2F7E0A5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3898" y="2442387"/>
            <a:ext cx="10038736" cy="3914167"/>
          </a:xfrm>
          <a:prstGeom prst="rect">
            <a:avLst/>
          </a:prstGeom>
        </p:spPr>
      </p:pic>
    </p:spTree>
    <p:extLst>
      <p:ext uri="{BB962C8B-B14F-4D97-AF65-F5344CB8AC3E}">
        <p14:creationId xmlns:p14="http://schemas.microsoft.com/office/powerpoint/2010/main" val="521211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07B124-B71C-07F2-DA4C-A5679F7A4A14}"/>
              </a:ext>
            </a:extLst>
          </p:cNvPr>
          <p:cNvSpPr>
            <a:spLocks noGrp="1"/>
          </p:cNvSpPr>
          <p:nvPr>
            <p:ph idx="1"/>
          </p:nvPr>
        </p:nvSpPr>
        <p:spPr>
          <a:xfrm>
            <a:off x="838200" y="373626"/>
            <a:ext cx="10515600" cy="6204155"/>
          </a:xfrm>
        </p:spPr>
        <p:txBody>
          <a:bodyPr/>
          <a:lstStyle/>
          <a:p>
            <a:pPr algn="just"/>
            <a:r>
              <a:rPr lang="en-IN" b="1" i="0" dirty="0">
                <a:solidFill>
                  <a:srgbClr val="111C24"/>
                </a:solidFill>
                <a:effectLst/>
                <a:latin typeface="Times New Roman" panose="02020603050405020304" pitchFamily="18" charset="0"/>
                <a:cs typeface="Times New Roman" panose="02020603050405020304" pitchFamily="18" charset="0"/>
              </a:rPr>
              <a:t>Night Vision</a:t>
            </a:r>
          </a:p>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Night vision systems enable drivers to see things that would otherwise be difficult or impossible to see at night. There are two categories of night vision implementations: Active night vision systems project infrared light, and passive systems rely on the thermal energy that comes from cars, animals, and other objects.</a:t>
            </a:r>
          </a:p>
          <a:p>
            <a:pPr algn="just"/>
            <a:r>
              <a:rPr lang="en-IN" b="1" i="0" dirty="0">
                <a:solidFill>
                  <a:srgbClr val="111C24"/>
                </a:solidFill>
                <a:effectLst/>
                <a:latin typeface="Times New Roman" panose="02020603050405020304" pitchFamily="18" charset="0"/>
                <a:cs typeface="Times New Roman" panose="02020603050405020304" pitchFamily="18" charset="0"/>
              </a:rPr>
              <a:t>Unseen Area Monitoring</a:t>
            </a:r>
            <a:endParaRPr lang="en-US" dirty="0">
              <a:solidFill>
                <a:srgbClr val="111C24"/>
              </a:solidFill>
              <a:latin typeface="Times New Roman" panose="02020603050405020304" pitchFamily="18" charset="0"/>
              <a:cs typeface="Times New Roman" panose="02020603050405020304" pitchFamily="18" charset="0"/>
            </a:endParaRPr>
          </a:p>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Unseen area detection systems use sensors to provide drivers with important information that is otherwise difficult or impossible to obtain. Some systems sound an alarm when they detect an object in the driver’s unseen area, such as when the driver tries to move into an occupied lane.</a:t>
            </a:r>
          </a:p>
          <a:p>
            <a:pPr algn="just"/>
            <a:r>
              <a:rPr lang="en-IN" b="1" i="0" dirty="0">
                <a:solidFill>
                  <a:srgbClr val="111C24"/>
                </a:solidFill>
                <a:effectLst/>
                <a:latin typeface="Times New Roman" panose="02020603050405020304" pitchFamily="18" charset="0"/>
                <a:cs typeface="Times New Roman" panose="02020603050405020304" pitchFamily="18" charset="0"/>
              </a:rPr>
              <a:t>Crosswind Stabilization</a:t>
            </a:r>
          </a:p>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This relatively new ADAS feature supports the vehicle in counteracting strong crosswinds. The sensors in this system can detect strong pressure acting on the vehicle while driving and apply brakes to the wheels affected by crosswind disturbance.</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1381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A60BBA-A737-873F-A105-E84706B0EFC6}"/>
              </a:ext>
            </a:extLst>
          </p:cNvPr>
          <p:cNvSpPr>
            <a:spLocks noGrp="1"/>
          </p:cNvSpPr>
          <p:nvPr>
            <p:ph idx="1"/>
          </p:nvPr>
        </p:nvSpPr>
        <p:spPr>
          <a:xfrm>
            <a:off x="838200" y="196644"/>
            <a:ext cx="10515600" cy="6440129"/>
          </a:xfrm>
        </p:spPr>
        <p:txBody>
          <a:bodyPr>
            <a:normAutofit lnSpcReduction="10000"/>
          </a:bodyPr>
          <a:lstStyle/>
          <a:p>
            <a:pPr algn="just"/>
            <a:r>
              <a:rPr lang="en-IN" b="1" i="0" dirty="0">
                <a:solidFill>
                  <a:srgbClr val="111C24"/>
                </a:solidFill>
                <a:effectLst/>
                <a:latin typeface="Times New Roman" panose="02020603050405020304" pitchFamily="18" charset="0"/>
                <a:cs typeface="Times New Roman" panose="02020603050405020304" pitchFamily="18" charset="0"/>
              </a:rPr>
              <a:t>Automatic Emergency Braking</a:t>
            </a:r>
          </a:p>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Automatic emergency braking uses sensors to detect whether the driver is in the process of hitting another vehicle or other objects on the road. This application can measure the distance of nearby traffic and alert the driver to any danger. Some emergency braking systems can take preventive safety measures such as tightening seat belts, reducing speed, and engaging adaptive steering to avoid a collision.</a:t>
            </a:r>
          </a:p>
          <a:p>
            <a:pPr algn="just"/>
            <a:r>
              <a:rPr lang="en-IN" b="1" i="0" dirty="0">
                <a:solidFill>
                  <a:srgbClr val="111C24"/>
                </a:solidFill>
                <a:effectLst/>
                <a:latin typeface="Times New Roman" panose="02020603050405020304" pitchFamily="18" charset="0"/>
                <a:cs typeface="Times New Roman" panose="02020603050405020304" pitchFamily="18" charset="0"/>
              </a:rPr>
              <a:t>Driver Drowsiness Detection</a:t>
            </a:r>
          </a:p>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Driver drowsiness detection warns drivers of sleepiness or other road distractions. There are several ways to determine whether a driver’s attention is decreasing. In one case, sensors can analyze the movement of the driver’s head and heart rate to determine whether they indicate drowsiness. Other systems issue driver alerts similar to the warning signals for lane detection</a:t>
            </a:r>
            <a:r>
              <a:rPr lang="en-US" sz="2200" b="0" i="0" dirty="0">
                <a:solidFill>
                  <a:srgbClr val="111C24"/>
                </a:solidFill>
                <a:effectLst/>
                <a:latin typeface="Roboto" panose="020B0604020202020204" pitchFamily="2" charset="0"/>
                <a:cs typeface="Times New Roman" panose="02020603050405020304" pitchFamily="18" charset="0"/>
              </a:rPr>
              <a:t>.</a:t>
            </a:r>
          </a:p>
          <a:p>
            <a:pPr algn="just"/>
            <a:r>
              <a:rPr lang="en-IN" b="1" i="0" dirty="0">
                <a:solidFill>
                  <a:srgbClr val="111C24"/>
                </a:solidFill>
                <a:effectLst/>
                <a:latin typeface="Times New Roman" panose="02020603050405020304" pitchFamily="18" charset="0"/>
                <a:cs typeface="Times New Roman" panose="02020603050405020304" pitchFamily="18" charset="0"/>
              </a:rPr>
              <a:t>Driver Monitoring System</a:t>
            </a:r>
          </a:p>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The driver monitoring system is another way of measuring the driver’s attention. The camera sensors can analyze whether the driver’s eyes are on the road or drifting. Driver monitoring systems can alert drivers with noises, vibrations in the steering wheel, or flashing lights. In some cases, the car will take the extreme measure of stopping the vehicle completely.</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8404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537ABD-EFC1-600B-DBA5-7593E6288793}"/>
              </a:ext>
            </a:extLst>
          </p:cNvPr>
          <p:cNvSpPr>
            <a:spLocks noGrp="1"/>
          </p:cNvSpPr>
          <p:nvPr>
            <p:ph idx="1"/>
          </p:nvPr>
        </p:nvSpPr>
        <p:spPr>
          <a:xfrm>
            <a:off x="838200" y="884903"/>
            <a:ext cx="10515600" cy="5292060"/>
          </a:xfrm>
        </p:spPr>
        <p:txBody>
          <a:bodyPr/>
          <a:lstStyle/>
          <a:p>
            <a:pPr algn="just"/>
            <a:r>
              <a:rPr lang="en-IN" b="1" i="0" dirty="0">
                <a:solidFill>
                  <a:srgbClr val="111C24"/>
                </a:solidFill>
                <a:effectLst/>
                <a:latin typeface="Times New Roman" panose="02020603050405020304" pitchFamily="18" charset="0"/>
                <a:cs typeface="Times New Roman" panose="02020603050405020304" pitchFamily="18" charset="0"/>
              </a:rPr>
              <a:t>5G and V2X</a:t>
            </a:r>
          </a:p>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This hot new 5G ADAS feature provides communication between the vehicle and other vehicles or pedestrians with increased reliability and lower latency, generally referred to as V2X. Today, millions of vehicles connect to cellular networks for real-time navigation. This application will enhance existing methods and the cellular network to improve situational awareness, control or suggest speed adjustments to account for traffic congestion, and provide real-time updates to GPS maps. V2X is essential to support over-the-air software updates for the now-extensive range of software-driven systems in cars, from map updates to bug fixes to security updates and more. </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2757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E4F60-1656-B340-9FB6-6F7ED71498AF}"/>
              </a:ext>
            </a:extLst>
          </p:cNvPr>
          <p:cNvSpPr>
            <a:spLocks noGrp="1"/>
          </p:cNvSpPr>
          <p:nvPr>
            <p:ph type="title"/>
          </p:nvPr>
        </p:nvSpPr>
        <p:spPr>
          <a:xfrm>
            <a:off x="551234" y="480607"/>
            <a:ext cx="11089532" cy="1289827"/>
          </a:xfrm>
        </p:spPr>
        <p:txBody>
          <a:bodyPr/>
          <a:lstStyle/>
          <a:p>
            <a:r>
              <a:rPr lang="en-IN" b="0" i="0" dirty="0">
                <a:solidFill>
                  <a:srgbClr val="5A2A82"/>
                </a:solidFill>
                <a:effectLst/>
                <a:latin typeface="Times New Roman" panose="02020603050405020304" pitchFamily="18" charset="0"/>
                <a:cs typeface="Times New Roman" panose="02020603050405020304" pitchFamily="18" charset="0"/>
              </a:rPr>
              <a:t>Why is ADAS important?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E34A453-8367-E2E3-551A-89485450C77A}"/>
              </a:ext>
            </a:extLst>
          </p:cNvPr>
          <p:cNvSpPr>
            <a:spLocks noGrp="1"/>
          </p:cNvSpPr>
          <p:nvPr>
            <p:ph idx="1"/>
          </p:nvPr>
        </p:nvSpPr>
        <p:spPr>
          <a:xfrm>
            <a:off x="551234" y="2239210"/>
            <a:ext cx="11089532" cy="3869760"/>
          </a:xfrm>
        </p:spPr>
        <p:txBody>
          <a:bodyPr>
            <a:normAutofit/>
          </a:bodyPr>
          <a:lstStyle/>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According to the August 2016 Traffic Safety Facts Research Notes by the National Highway Traffic Safety Administration (NHTSA), “The Nation lost 35,092 people in crashes on U.S. roadways during 2015.” This 7.2% increase was “the largest percentage increase in nearly 50 years.” An analysis revealed that about 94% of those accidents were caused by human error, and the rest by the environment and mechanical failures.</a:t>
            </a:r>
          </a:p>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The opportunity to reduce car accidents is making ADAS even more critical. Automatic emergency braking, pedestrian detection, surround view, parking assist, driver drowsiness detection, and gaze detection are among the many ADAS applications that assist drivers with safety-critical functionality to reduce car accidents and save lives. </a:t>
            </a:r>
            <a:br>
              <a:rPr lang="en-US" sz="2200" dirty="0">
                <a:latin typeface="Times New Roman" panose="02020603050405020304" pitchFamily="18" charset="0"/>
                <a:cs typeface="Times New Roman" panose="02020603050405020304" pitchFamily="18" charset="0"/>
              </a:rPr>
            </a:b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9198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5B4F1-76AD-CCA0-9440-36756B71CA49}"/>
              </a:ext>
            </a:extLst>
          </p:cNvPr>
          <p:cNvSpPr>
            <a:spLocks noGrp="1"/>
          </p:cNvSpPr>
          <p:nvPr>
            <p:ph type="title"/>
          </p:nvPr>
        </p:nvSpPr>
        <p:spPr>
          <a:xfrm>
            <a:off x="838200" y="292960"/>
            <a:ext cx="10515600" cy="1188720"/>
          </a:xfrm>
        </p:spPr>
        <p:txBody>
          <a:bodyPr/>
          <a:lstStyle/>
          <a:p>
            <a:r>
              <a:rPr lang="en-US" b="0" i="0" dirty="0">
                <a:solidFill>
                  <a:srgbClr val="5A2A82"/>
                </a:solidFill>
                <a:effectLst/>
                <a:latin typeface="Times New Roman" panose="02020603050405020304" pitchFamily="18" charset="0"/>
                <a:cs typeface="Times New Roman" panose="02020603050405020304" pitchFamily="18" charset="0"/>
              </a:rPr>
              <a:t>What is the future of ADAS?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22EBD1-769F-5DAA-FD72-8B2B71D323E5}"/>
              </a:ext>
            </a:extLst>
          </p:cNvPr>
          <p:cNvSpPr>
            <a:spLocks noGrp="1"/>
          </p:cNvSpPr>
          <p:nvPr>
            <p:ph idx="1"/>
          </p:nvPr>
        </p:nvSpPr>
        <p:spPr>
          <a:xfrm>
            <a:off x="838200" y="1690688"/>
            <a:ext cx="10515600" cy="4351338"/>
          </a:xfrm>
        </p:spPr>
        <p:txBody>
          <a:bodyPr>
            <a:normAutofit fontScale="92500" lnSpcReduction="10000"/>
          </a:bodyPr>
          <a:lstStyle/>
          <a:p>
            <a:pPr marL="0" indent="0" algn="just">
              <a:buNone/>
            </a:pPr>
            <a:r>
              <a:rPr lang="en-US" sz="2400" b="0" i="0" dirty="0">
                <a:solidFill>
                  <a:srgbClr val="111C24"/>
                </a:solidFill>
                <a:effectLst/>
                <a:latin typeface="Times New Roman" panose="02020603050405020304" pitchFamily="18" charset="0"/>
                <a:cs typeface="Times New Roman" panose="02020603050405020304" pitchFamily="18" charset="0"/>
              </a:rPr>
              <a:t>The increasing amount of automotive electronic hardware and software requires significant changes in today’s automobile design process to address the convergence of conflicting goals:</a:t>
            </a:r>
          </a:p>
          <a:p>
            <a:pPr algn="just">
              <a:buFont typeface="Arial" panose="020B0604020202020204" pitchFamily="34" charset="0"/>
              <a:buChar char="•"/>
            </a:pPr>
            <a:r>
              <a:rPr lang="en-US" sz="2400" b="0" i="0" dirty="0">
                <a:solidFill>
                  <a:srgbClr val="111C24"/>
                </a:solidFill>
                <a:effectLst/>
                <a:latin typeface="Times New Roman" panose="02020603050405020304" pitchFamily="18" charset="0"/>
                <a:cs typeface="Times New Roman" panose="02020603050405020304" pitchFamily="18" charset="0"/>
              </a:rPr>
              <a:t>Increased reliability</a:t>
            </a:r>
          </a:p>
          <a:p>
            <a:pPr algn="just">
              <a:buFont typeface="Arial" panose="020B0604020202020204" pitchFamily="34" charset="0"/>
              <a:buChar char="•"/>
            </a:pPr>
            <a:r>
              <a:rPr lang="en-US" sz="2400" b="0" i="0" dirty="0">
                <a:solidFill>
                  <a:srgbClr val="111C24"/>
                </a:solidFill>
                <a:effectLst/>
                <a:latin typeface="Times New Roman" panose="02020603050405020304" pitchFamily="18" charset="0"/>
                <a:cs typeface="Times New Roman" panose="02020603050405020304" pitchFamily="18" charset="0"/>
              </a:rPr>
              <a:t>Reduced costs</a:t>
            </a:r>
          </a:p>
          <a:p>
            <a:pPr algn="just">
              <a:buFont typeface="Arial" panose="020B0604020202020204" pitchFamily="34" charset="0"/>
              <a:buChar char="•"/>
            </a:pPr>
            <a:r>
              <a:rPr lang="en-US" sz="2400" b="0" i="0" dirty="0">
                <a:solidFill>
                  <a:srgbClr val="111C24"/>
                </a:solidFill>
                <a:effectLst/>
                <a:latin typeface="Times New Roman" panose="02020603050405020304" pitchFamily="18" charset="0"/>
                <a:cs typeface="Times New Roman" panose="02020603050405020304" pitchFamily="18" charset="0"/>
              </a:rPr>
              <a:t>Shorter development cycles</a:t>
            </a:r>
          </a:p>
          <a:p>
            <a:pPr marL="0" indent="0" algn="just">
              <a:buNone/>
            </a:pPr>
            <a:r>
              <a:rPr lang="en-US" sz="2400" b="0" i="0" dirty="0">
                <a:solidFill>
                  <a:srgbClr val="111C24"/>
                </a:solidFill>
                <a:effectLst/>
                <a:latin typeface="Times New Roman" panose="02020603050405020304" pitchFamily="18" charset="0"/>
                <a:cs typeface="Times New Roman" panose="02020603050405020304" pitchFamily="18" charset="0"/>
              </a:rPr>
              <a:t>The trend is shifting from distributed ADAS electronic controller units (ECUs) to a more integrated ADAS domain controller with centralized ECUs. This means that we are currently at what SAE International designates as Level 2 (Partial Driving Automation), where the vehicle can control both steering and accelerating/decelerating but falls short of self-driving because a human sits in the driver’s seat and can take control of the car at any time.</a:t>
            </a:r>
          </a:p>
          <a:p>
            <a:pPr marL="0" indent="0">
              <a:buNone/>
            </a:pPr>
            <a:endParaRPr lang="en-IN" dirty="0"/>
          </a:p>
        </p:txBody>
      </p:sp>
    </p:spTree>
    <p:extLst>
      <p:ext uri="{BB962C8B-B14F-4D97-AF65-F5344CB8AC3E}">
        <p14:creationId xmlns:p14="http://schemas.microsoft.com/office/powerpoint/2010/main" val="3032007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60A39BC-71BE-4AA7-F488-242C10BC09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7419" y="292107"/>
            <a:ext cx="10618839" cy="6030872"/>
          </a:xfrm>
        </p:spPr>
      </p:pic>
    </p:spTree>
    <p:extLst>
      <p:ext uri="{BB962C8B-B14F-4D97-AF65-F5344CB8AC3E}">
        <p14:creationId xmlns:p14="http://schemas.microsoft.com/office/powerpoint/2010/main" val="2861702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A211E9-345B-699F-5EBF-32D3662A821C}"/>
              </a:ext>
            </a:extLst>
          </p:cNvPr>
          <p:cNvSpPr>
            <a:spLocks noGrp="1"/>
          </p:cNvSpPr>
          <p:nvPr>
            <p:ph idx="1"/>
          </p:nvPr>
        </p:nvSpPr>
        <p:spPr>
          <a:xfrm>
            <a:off x="838200" y="320842"/>
            <a:ext cx="10515600" cy="5856121"/>
          </a:xfrm>
        </p:spPr>
        <p:txBody>
          <a:bodyPr>
            <a:normAutofit fontScale="92500" lnSpcReduction="10000"/>
          </a:bodyPr>
          <a:lstStyle/>
          <a:p>
            <a:pPr marL="0" indent="0" algn="just">
              <a:buNone/>
            </a:pPr>
            <a:endParaRPr lang="en-US" sz="2200" b="0" i="0" dirty="0">
              <a:solidFill>
                <a:srgbClr val="111C24"/>
              </a:solidFill>
              <a:effectLst/>
              <a:latin typeface="Times New Roman" panose="02020603050405020304" pitchFamily="18" charset="0"/>
              <a:cs typeface="Times New Roman" panose="02020603050405020304" pitchFamily="18" charset="0"/>
            </a:endParaRPr>
          </a:p>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Shifting toward fully autonomous cars—vehicles capable of sensing their environment and operating without human involvement—requires an increase in the electronic architecture of these vehicles.</a:t>
            </a:r>
            <a:br>
              <a:rPr lang="en-US" sz="2200" b="0" i="0" dirty="0">
                <a:solidFill>
                  <a:srgbClr val="111C24"/>
                </a:solidFill>
                <a:effectLst/>
                <a:latin typeface="Times New Roman" panose="02020603050405020304" pitchFamily="18" charset="0"/>
                <a:cs typeface="Times New Roman" panose="02020603050405020304" pitchFamily="18" charset="0"/>
              </a:rPr>
            </a:br>
            <a:r>
              <a:rPr lang="en-US" sz="2200" b="0" i="0" dirty="0">
                <a:solidFill>
                  <a:srgbClr val="111C24"/>
                </a:solidFill>
                <a:effectLst/>
                <a:latin typeface="Times New Roman" panose="02020603050405020304" pitchFamily="18" charset="0"/>
                <a:cs typeface="Times New Roman" panose="02020603050405020304" pitchFamily="18" charset="0"/>
              </a:rPr>
              <a:t>With the increase in electronic architecture comes an increase in the volume of data. To handle this data, the new integrated domain controllers require higher computing performance, lower power consumption, and smaller packaging.</a:t>
            </a:r>
            <a:br>
              <a:rPr lang="en-US" sz="2200" b="0" i="0" dirty="0">
                <a:solidFill>
                  <a:srgbClr val="111C24"/>
                </a:solidFill>
                <a:effectLst/>
                <a:latin typeface="Times New Roman" panose="02020603050405020304" pitchFamily="18" charset="0"/>
                <a:cs typeface="Times New Roman" panose="02020603050405020304" pitchFamily="18" charset="0"/>
              </a:rPr>
            </a:br>
            <a:r>
              <a:rPr lang="en-US" sz="2200" b="0" i="0" dirty="0">
                <a:solidFill>
                  <a:srgbClr val="111C24"/>
                </a:solidFill>
                <a:effectLst/>
                <a:latin typeface="Times New Roman" panose="02020603050405020304" pitchFamily="18" charset="0"/>
                <a:cs typeface="Times New Roman" panose="02020603050405020304" pitchFamily="18" charset="0"/>
              </a:rPr>
              <a:t>The adoption of 64-bit processors, neural networks and AI accelerators to handle the high volume of data requires the latest semiconductor features, semiconductor process technologies, and interconnecting technologies to support ADAS capabilities.</a:t>
            </a:r>
          </a:p>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The reduction of electronic modules leads to centralized computing architectures, requiring critical automotive building blocks, including processors with vision processing capabilities, neural networks, and sensor fusion. And this must be achieved while addressing the need for quality, safety, and security.</a:t>
            </a:r>
          </a:p>
          <a:p>
            <a:pPr marL="0" indent="0" algn="just">
              <a:buNone/>
            </a:pPr>
            <a:r>
              <a:rPr lang="en-US" sz="2200" b="0" i="0" dirty="0">
                <a:solidFill>
                  <a:srgbClr val="111C24"/>
                </a:solidFill>
                <a:effectLst/>
                <a:latin typeface="Times New Roman" panose="02020603050405020304" pitchFamily="18" charset="0"/>
                <a:cs typeface="Times New Roman" panose="02020603050405020304" pitchFamily="18" charset="0"/>
              </a:rPr>
              <a:t>Every aspect of the car is designed to be more connected, requiring subsystem and SoC designers to expand the scope of safety measures beyond the traditional steps taken to ensure physical safety. Applying the latest embedded computer vision and deep learning techniques to automotive SoCs brings greater accuracy, power efficiency, and performance to ADAS systems.</a:t>
            </a:r>
          </a:p>
          <a:p>
            <a:pPr marL="0" indent="0">
              <a:buNone/>
            </a:pPr>
            <a:br>
              <a:rPr lang="en-US" dirty="0"/>
            </a:br>
            <a:endParaRPr lang="en-IN" dirty="0"/>
          </a:p>
        </p:txBody>
      </p:sp>
    </p:spTree>
    <p:extLst>
      <p:ext uri="{BB962C8B-B14F-4D97-AF65-F5344CB8AC3E}">
        <p14:creationId xmlns:p14="http://schemas.microsoft.com/office/powerpoint/2010/main" val="10965562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4E3C9E15-9F19-6A0E-7238-A11A367C405B}"/>
              </a:ext>
            </a:extLst>
          </p:cNvPr>
          <p:cNvPicPr>
            <a:picLocks noGrp="1" noChangeAspect="1"/>
          </p:cNvPicPr>
          <p:nvPr>
            <p:ph idx="1"/>
          </p:nvPr>
        </p:nvPicPr>
        <p:blipFill>
          <a:blip r:embed="rId2"/>
          <a:stretch>
            <a:fillRect/>
          </a:stretch>
        </p:blipFill>
        <p:spPr>
          <a:xfrm>
            <a:off x="-1" y="0"/>
            <a:ext cx="12309987" cy="6858000"/>
          </a:xfrm>
        </p:spPr>
      </p:pic>
    </p:spTree>
    <p:extLst>
      <p:ext uri="{BB962C8B-B14F-4D97-AF65-F5344CB8AC3E}">
        <p14:creationId xmlns:p14="http://schemas.microsoft.com/office/powerpoint/2010/main" val="109566763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89</TotalTime>
  <Words>1885</Words>
  <Application>Microsoft Office PowerPoint</Application>
  <PresentationFormat>Widescreen</PresentationFormat>
  <Paragraphs>82</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Arial MT</vt:lpstr>
      <vt:lpstr>Gill Sans MT</vt:lpstr>
      <vt:lpstr>Roboto</vt:lpstr>
      <vt:lpstr>Times New Roman</vt:lpstr>
      <vt:lpstr>Parcel</vt:lpstr>
      <vt:lpstr>Advanced Driver Assistance Systems (ADAS)</vt:lpstr>
      <vt:lpstr>Table of Contents</vt:lpstr>
      <vt:lpstr>Definition:</vt:lpstr>
      <vt:lpstr>HISTORY</vt:lpstr>
      <vt:lpstr>TYPES OF ADAS</vt:lpstr>
      <vt:lpstr>How does ADAS work?</vt:lpstr>
      <vt:lpstr>Working</vt:lpstr>
      <vt:lpstr>PowerPoint Presentation</vt:lpstr>
      <vt:lpstr>What are some ADAS applications?</vt:lpstr>
      <vt:lpstr>These are some of the most common ADAS applications:</vt:lpstr>
      <vt:lpstr>PowerPoint Presentation</vt:lpstr>
      <vt:lpstr>PowerPoint Presentation</vt:lpstr>
      <vt:lpstr>PowerPoint Presentation</vt:lpstr>
      <vt:lpstr>PowerPoint Presentation</vt:lpstr>
      <vt:lpstr>PowerPoint Presentation</vt:lpstr>
      <vt:lpstr>Why is ADAS important?</vt:lpstr>
      <vt:lpstr>What is the future of ADAS?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Driver Assistance Systems (ADAS)</dc:title>
  <dc:creator>mohit nayal</dc:creator>
  <cp:lastModifiedBy>ansh srivastava</cp:lastModifiedBy>
  <cp:revision>2</cp:revision>
  <dcterms:created xsi:type="dcterms:W3CDTF">2023-03-03T16:39:06Z</dcterms:created>
  <dcterms:modified xsi:type="dcterms:W3CDTF">2025-03-03T16:27:43Z</dcterms:modified>
</cp:coreProperties>
</file>